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 Subway Frauder, c’est un runner qui transforme le corps en manette. On joue devant sa webcam : on esquive, on saute, on se baisse. Le parcours est parisien et les scores sont enregistrés sur Monad testnet. Accroche : ‘On voulait faire un jeu blockchain. On a aussi fait une séance de cardio.’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 Nous sommes Ali Ben Yezza et Noé Wales, de DeVinci Blockchain. Nous avons construit Subway Frauder pour Monad Blitz Paris. Deux développeurs, une webcam et l’envie de proposer une démo qu’on peut essayer immédiatement. Pas besoin d’inventer des rôles ou des biographies : présentez simplement chacun votre contribution à l’oral.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 On choisit un pseudo, on active la caméra et on a cinq secondes pour se placer. Le corps contrôle gauche, droite, saut et accroupissement. Le parcours est généré à partir d’une graine aléatoire. La caméra et la simulation tournent dans le navigateur ; les images ne sont pas envoyées au serveur. Le clavier et le tactile restent disponibles pour essayer le jeu. Si possible, montrer les mouvements devant la salle.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 À la fin d’un run, on retrouve le score, les pièces, les dernières secondes de la course et le classement. Les highlights restent locaux. Cette capture fournie affiche explicitement une partie locale : ne pas présenter les 2 930 points comme une transaction confirmée. Le classement et le résultat confirmé sont distingués par l’interface. Accroche : ‘Le score de ton pote devient soudain une affaire personnelle.’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 Le jeu reste local et fluide. En fin de partie, le serveur rejoue les commandes pour recalculer le score et les pièces, puis le relayer enregistre le résultat sur Monad testnet. Le joueur n’a pas besoin de wallet : nous payons le gas. Le contrat conserve le pseudo, les résultats, les replays et le top 25. Le rejeu vérifie la cohérence, pas la réalité des gestes. Pour la suite, l’API une transaction par changement de commande est prête sur chain, avec son propre contrat et relayer ; son déploiement et son raccordement au front restent à faire. Conclure par une démo : ‘Qui veut prendre le record ?’ Le bouton ouvre https://hackathon-monad-brown.vercel.app.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ackathon-monad-brown.vercel.app" TargetMode="Externa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aris.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solidFill>
            <a:srgbClr val="0C192A">
              <a:alpha val="1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15570" cy="6858000"/>
          </a:xfrm>
          <a:prstGeom prst="rect">
            <a:avLst/>
          </a:prstGeom>
          <a:solidFill>
            <a:srgbClr val="0C192A">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4300" y="0"/>
            <a:ext cx="115570" cy="6858000"/>
          </a:xfrm>
          <a:prstGeom prst="rect">
            <a:avLst/>
          </a:prstGeom>
          <a:solidFill>
            <a:srgbClr val="0C192A">
              <a:alpha val="8595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0"/>
            <a:ext cx="115570" cy="6858000"/>
          </a:xfrm>
          <a:prstGeom prst="rect">
            <a:avLst/>
          </a:prstGeom>
          <a:solidFill>
            <a:srgbClr val="0C192A">
              <a:alpha val="8491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2900" y="0"/>
            <a:ext cx="115570" cy="6858000"/>
          </a:xfrm>
          <a:prstGeom prst="rect">
            <a:avLst/>
          </a:prstGeom>
          <a:solidFill>
            <a:srgbClr val="0C192A">
              <a:alpha val="8386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0"/>
            <a:ext cx="115570" cy="6858000"/>
          </a:xfrm>
          <a:prstGeom prst="rect">
            <a:avLst/>
          </a:prstGeom>
          <a:solidFill>
            <a:srgbClr val="0C192A">
              <a:alpha val="828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0"/>
            <a:ext cx="115570" cy="6858000"/>
          </a:xfrm>
          <a:prstGeom prst="rect">
            <a:avLst/>
          </a:prstGeom>
          <a:solidFill>
            <a:srgbClr val="0C192A">
              <a:alpha val="8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0"/>
            <a:ext cx="115570" cy="6858000"/>
          </a:xfrm>
          <a:prstGeom prst="rect">
            <a:avLst/>
          </a:prstGeom>
          <a:solidFill>
            <a:srgbClr val="0C192A">
              <a:alpha val="807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0100" y="0"/>
            <a:ext cx="115570" cy="6858000"/>
          </a:xfrm>
          <a:prstGeom prst="rect">
            <a:avLst/>
          </a:prstGeom>
          <a:solidFill>
            <a:srgbClr val="0C192A">
              <a:alpha val="7965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0"/>
            <a:ext cx="115570" cy="6858000"/>
          </a:xfrm>
          <a:prstGeom prst="rect">
            <a:avLst/>
          </a:prstGeom>
          <a:solidFill>
            <a:srgbClr val="0C192A">
              <a:alpha val="785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28700" y="0"/>
            <a:ext cx="115570" cy="6858000"/>
          </a:xfrm>
          <a:prstGeom prst="rect">
            <a:avLst/>
          </a:prstGeom>
          <a:solidFill>
            <a:srgbClr val="0C192A">
              <a:alpha val="7753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3000" y="0"/>
            <a:ext cx="115570" cy="6858000"/>
          </a:xfrm>
          <a:prstGeom prst="rect">
            <a:avLst/>
          </a:prstGeom>
          <a:solidFill>
            <a:srgbClr val="0C192A">
              <a:alpha val="764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57300" y="0"/>
            <a:ext cx="115570" cy="6858000"/>
          </a:xfrm>
          <a:prstGeom prst="rect">
            <a:avLst/>
          </a:prstGeom>
          <a:solidFill>
            <a:srgbClr val="0C192A">
              <a:alpha val="7540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71600" y="0"/>
            <a:ext cx="115570" cy="6858000"/>
          </a:xfrm>
          <a:prstGeom prst="rect">
            <a:avLst/>
          </a:prstGeom>
          <a:solidFill>
            <a:srgbClr val="0C192A">
              <a:alpha val="7433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85900" y="0"/>
            <a:ext cx="115570" cy="6858000"/>
          </a:xfrm>
          <a:prstGeom prst="rect">
            <a:avLst/>
          </a:prstGeom>
          <a:solidFill>
            <a:srgbClr val="0C192A">
              <a:alpha val="732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00200" y="0"/>
            <a:ext cx="115570" cy="6858000"/>
          </a:xfrm>
          <a:prstGeom prst="rect">
            <a:avLst/>
          </a:prstGeom>
          <a:solidFill>
            <a:srgbClr val="0C192A">
              <a:alpha val="7218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14500" y="0"/>
            <a:ext cx="115570" cy="6858000"/>
          </a:xfrm>
          <a:prstGeom prst="rect">
            <a:avLst/>
          </a:prstGeom>
          <a:solidFill>
            <a:srgbClr val="0C192A">
              <a:alpha val="7110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0" y="0"/>
            <a:ext cx="115570" cy="6858000"/>
          </a:xfrm>
          <a:prstGeom prst="rect">
            <a:avLst/>
          </a:prstGeom>
          <a:solidFill>
            <a:srgbClr val="0C192A">
              <a:alpha val="7002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3100" y="0"/>
            <a:ext cx="115570" cy="6858000"/>
          </a:xfrm>
          <a:prstGeom prst="rect">
            <a:avLst/>
          </a:prstGeom>
          <a:solidFill>
            <a:srgbClr val="0C192A">
              <a:alpha val="689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57400" y="0"/>
            <a:ext cx="115570" cy="6858000"/>
          </a:xfrm>
          <a:prstGeom prst="rect">
            <a:avLst/>
          </a:prstGeom>
          <a:solidFill>
            <a:srgbClr val="0C192A">
              <a:alpha val="6785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71700" y="0"/>
            <a:ext cx="115570" cy="6858000"/>
          </a:xfrm>
          <a:prstGeom prst="rect">
            <a:avLst/>
          </a:prstGeom>
          <a:solidFill>
            <a:srgbClr val="0C192A">
              <a:alpha val="6676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286000" y="0"/>
            <a:ext cx="115570" cy="6858000"/>
          </a:xfrm>
          <a:prstGeom prst="rect">
            <a:avLst/>
          </a:prstGeom>
          <a:solidFill>
            <a:srgbClr val="0C192A">
              <a:alpha val="6567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400300" y="0"/>
            <a:ext cx="115570" cy="6858000"/>
          </a:xfrm>
          <a:prstGeom prst="rect">
            <a:avLst/>
          </a:prstGeom>
          <a:solidFill>
            <a:srgbClr val="0C192A">
              <a:alpha val="645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4600" y="0"/>
            <a:ext cx="115570" cy="6858000"/>
          </a:xfrm>
          <a:prstGeom prst="rect">
            <a:avLst/>
          </a:prstGeom>
          <a:solidFill>
            <a:srgbClr val="0C192A">
              <a:alpha val="6347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628900" y="0"/>
            <a:ext cx="115570" cy="6858000"/>
          </a:xfrm>
          <a:prstGeom prst="rect">
            <a:avLst/>
          </a:prstGeom>
          <a:solidFill>
            <a:srgbClr val="0C192A">
              <a:alpha val="623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0" y="0"/>
            <a:ext cx="115570" cy="6858000"/>
          </a:xfrm>
          <a:prstGeom prst="rect">
            <a:avLst/>
          </a:prstGeom>
          <a:solidFill>
            <a:srgbClr val="0C192A">
              <a:alpha val="612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57500" y="0"/>
            <a:ext cx="115570" cy="6858000"/>
          </a:xfrm>
          <a:prstGeom prst="rect">
            <a:avLst/>
          </a:prstGeom>
          <a:solidFill>
            <a:srgbClr val="0C192A">
              <a:alpha val="601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71800" y="0"/>
            <a:ext cx="115570" cy="6858000"/>
          </a:xfrm>
          <a:prstGeom prst="rect">
            <a:avLst/>
          </a:prstGeom>
          <a:solidFill>
            <a:srgbClr val="0C192A">
              <a:alpha val="590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86100" y="0"/>
            <a:ext cx="115570" cy="6858000"/>
          </a:xfrm>
          <a:prstGeom prst="rect">
            <a:avLst/>
          </a:prstGeom>
          <a:solidFill>
            <a:srgbClr val="0C192A">
              <a:alpha val="5792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00400" y="0"/>
            <a:ext cx="115570" cy="6858000"/>
          </a:xfrm>
          <a:prstGeom prst="rect">
            <a:avLst/>
          </a:prstGeom>
          <a:solidFill>
            <a:srgbClr val="0C192A">
              <a:alpha val="5680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14700" y="0"/>
            <a:ext cx="115570" cy="6858000"/>
          </a:xfrm>
          <a:prstGeom prst="rect">
            <a:avLst/>
          </a:prstGeom>
          <a:solidFill>
            <a:srgbClr val="0C192A">
              <a:alpha val="556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29000" y="0"/>
            <a:ext cx="115570" cy="6858000"/>
          </a:xfrm>
          <a:prstGeom prst="rect">
            <a:avLst/>
          </a:prstGeom>
          <a:solidFill>
            <a:srgbClr val="0C192A">
              <a:alpha val="5455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543300" y="0"/>
            <a:ext cx="115570" cy="6858000"/>
          </a:xfrm>
          <a:prstGeom prst="rect">
            <a:avLst/>
          </a:prstGeom>
          <a:solidFill>
            <a:srgbClr val="0C192A">
              <a:alpha val="534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0" y="0"/>
            <a:ext cx="115570" cy="6858000"/>
          </a:xfrm>
          <a:prstGeom prst="rect">
            <a:avLst/>
          </a:prstGeom>
          <a:solidFill>
            <a:srgbClr val="0C192A">
              <a:alpha val="522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71900" y="0"/>
            <a:ext cx="115570" cy="6858000"/>
          </a:xfrm>
          <a:prstGeom prst="rect">
            <a:avLst/>
          </a:prstGeom>
          <a:solidFill>
            <a:srgbClr val="0C192A">
              <a:alpha val="511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886200" y="0"/>
            <a:ext cx="115570" cy="6858000"/>
          </a:xfrm>
          <a:prstGeom prst="rect">
            <a:avLst/>
          </a:prstGeom>
          <a:solidFill>
            <a:srgbClr val="0C192A">
              <a:alpha val="499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000500" y="0"/>
            <a:ext cx="115570" cy="6858000"/>
          </a:xfrm>
          <a:prstGeom prst="rect">
            <a:avLst/>
          </a:prstGeom>
          <a:solidFill>
            <a:srgbClr val="0C192A">
              <a:alpha val="4884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14800" y="0"/>
            <a:ext cx="115570" cy="6858000"/>
          </a:xfrm>
          <a:prstGeom prst="rect">
            <a:avLst/>
          </a:prstGeom>
          <a:solidFill>
            <a:srgbClr val="0C192A">
              <a:alpha val="476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29100" y="0"/>
            <a:ext cx="115570" cy="6858000"/>
          </a:xfrm>
          <a:prstGeom prst="rect">
            <a:avLst/>
          </a:prstGeom>
          <a:solidFill>
            <a:srgbClr val="0C192A">
              <a:alpha val="4652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343400" y="0"/>
            <a:ext cx="115570" cy="6858000"/>
          </a:xfrm>
          <a:prstGeom prst="rect">
            <a:avLst/>
          </a:prstGeom>
          <a:solidFill>
            <a:srgbClr val="0C192A">
              <a:alpha val="4536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57700" y="0"/>
            <a:ext cx="115570" cy="6858000"/>
          </a:xfrm>
          <a:prstGeom prst="rect">
            <a:avLst/>
          </a:prstGeom>
          <a:solidFill>
            <a:srgbClr val="0C192A">
              <a:alpha val="4419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0" y="0"/>
            <a:ext cx="115570" cy="6858000"/>
          </a:xfrm>
          <a:prstGeom prst="rect">
            <a:avLst/>
          </a:prstGeom>
          <a:solidFill>
            <a:srgbClr val="0C192A">
              <a:alpha val="4301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86300" y="0"/>
            <a:ext cx="115570" cy="6858000"/>
          </a:xfrm>
          <a:prstGeom prst="rect">
            <a:avLst/>
          </a:prstGeom>
          <a:solidFill>
            <a:srgbClr val="0C192A">
              <a:alpha val="4183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800600" y="0"/>
            <a:ext cx="115570" cy="6858000"/>
          </a:xfrm>
          <a:prstGeom prst="rect">
            <a:avLst/>
          </a:prstGeom>
          <a:solidFill>
            <a:srgbClr val="0C192A">
              <a:alpha val="406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914900" y="0"/>
            <a:ext cx="115570" cy="6858000"/>
          </a:xfrm>
          <a:prstGeom prst="rect">
            <a:avLst/>
          </a:prstGeom>
          <a:solidFill>
            <a:srgbClr val="0C192A">
              <a:alpha val="394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0"/>
            <a:ext cx="115570" cy="6858000"/>
          </a:xfrm>
          <a:prstGeom prst="rect">
            <a:avLst/>
          </a:prstGeom>
          <a:solidFill>
            <a:srgbClr val="0C192A">
              <a:alpha val="3824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143500" y="0"/>
            <a:ext cx="115570" cy="6858000"/>
          </a:xfrm>
          <a:prstGeom prst="rect">
            <a:avLst/>
          </a:prstGeom>
          <a:solidFill>
            <a:srgbClr val="0C192A">
              <a:alpha val="370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257800" y="0"/>
            <a:ext cx="115570" cy="6858000"/>
          </a:xfrm>
          <a:prstGeom prst="rect">
            <a:avLst/>
          </a:prstGeom>
          <a:solidFill>
            <a:srgbClr val="0C192A">
              <a:alpha val="3582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372100" y="0"/>
            <a:ext cx="115570" cy="6858000"/>
          </a:xfrm>
          <a:prstGeom prst="rect">
            <a:avLst/>
          </a:prstGeom>
          <a:solidFill>
            <a:srgbClr val="0C192A">
              <a:alpha val="346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486400" y="0"/>
            <a:ext cx="115570" cy="6858000"/>
          </a:xfrm>
          <a:prstGeom prst="rect">
            <a:avLst/>
          </a:prstGeom>
          <a:solidFill>
            <a:srgbClr val="0C192A">
              <a:alpha val="333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600700" y="0"/>
            <a:ext cx="115570" cy="6858000"/>
          </a:xfrm>
          <a:prstGeom prst="rect">
            <a:avLst/>
          </a:prstGeom>
          <a:solidFill>
            <a:srgbClr val="0C192A">
              <a:alpha val="32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715000" y="0"/>
            <a:ext cx="115570" cy="6858000"/>
          </a:xfrm>
          <a:prstGeom prst="rect">
            <a:avLst/>
          </a:prstGeom>
          <a:solidFill>
            <a:srgbClr val="0C192A">
              <a:alpha val="3089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829300" y="0"/>
            <a:ext cx="115570" cy="6858000"/>
          </a:xfrm>
          <a:prstGeom prst="rect">
            <a:avLst/>
          </a:prstGeom>
          <a:solidFill>
            <a:srgbClr val="0C192A">
              <a:alpha val="296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943600" y="0"/>
            <a:ext cx="115570" cy="6858000"/>
          </a:xfrm>
          <a:prstGeom prst="rect">
            <a:avLst/>
          </a:prstGeom>
          <a:solidFill>
            <a:srgbClr val="0C192A">
              <a:alpha val="283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057900" y="0"/>
            <a:ext cx="115570" cy="6858000"/>
          </a:xfrm>
          <a:prstGeom prst="rect">
            <a:avLst/>
          </a:prstGeom>
          <a:solidFill>
            <a:srgbClr val="0C192A">
              <a:alpha val="270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72200" y="0"/>
            <a:ext cx="115570" cy="6858000"/>
          </a:xfrm>
          <a:prstGeom prst="rect">
            <a:avLst/>
          </a:prstGeom>
          <a:solidFill>
            <a:srgbClr val="0C192A">
              <a:alpha val="2581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6500" y="0"/>
            <a:ext cx="115570" cy="6858000"/>
          </a:xfrm>
          <a:prstGeom prst="rect">
            <a:avLst/>
          </a:prstGeom>
          <a:solidFill>
            <a:srgbClr val="0C192A">
              <a:alpha val="245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400800" y="0"/>
            <a:ext cx="115570" cy="6858000"/>
          </a:xfrm>
          <a:prstGeom prst="rect">
            <a:avLst/>
          </a:prstGeom>
          <a:solidFill>
            <a:srgbClr val="0C192A">
              <a:alpha val="2320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515100" y="0"/>
            <a:ext cx="115570" cy="6858000"/>
          </a:xfrm>
          <a:prstGeom prst="rect">
            <a:avLst/>
          </a:prstGeom>
          <a:solidFill>
            <a:srgbClr val="0C192A">
              <a:alpha val="2188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629400" y="0"/>
            <a:ext cx="115570" cy="6858000"/>
          </a:xfrm>
          <a:prstGeom prst="rect">
            <a:avLst/>
          </a:prstGeom>
          <a:solidFill>
            <a:srgbClr val="0C192A">
              <a:alpha val="205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743700" y="0"/>
            <a:ext cx="115570" cy="6858000"/>
          </a:xfrm>
          <a:prstGeom prst="rect">
            <a:avLst/>
          </a:prstGeom>
          <a:solidFill>
            <a:srgbClr val="0C192A">
              <a:alpha val="191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858000" y="0"/>
            <a:ext cx="115570" cy="6858000"/>
          </a:xfrm>
          <a:prstGeom prst="rect">
            <a:avLst/>
          </a:prstGeom>
          <a:solidFill>
            <a:srgbClr val="0C192A">
              <a:alpha val="1782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972300" y="0"/>
            <a:ext cx="115570" cy="6858000"/>
          </a:xfrm>
          <a:prstGeom prst="rect">
            <a:avLst/>
          </a:prstGeom>
          <a:solidFill>
            <a:srgbClr val="0C192A">
              <a:alpha val="164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086600" y="0"/>
            <a:ext cx="115570" cy="6858000"/>
          </a:xfrm>
          <a:prstGeom prst="rect">
            <a:avLst/>
          </a:prstGeom>
          <a:solidFill>
            <a:srgbClr val="0C192A">
              <a:alpha val="150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200900" y="0"/>
            <a:ext cx="115570" cy="6858000"/>
          </a:xfrm>
          <a:prstGeom prst="rect">
            <a:avLst/>
          </a:prstGeom>
          <a:solidFill>
            <a:srgbClr val="0C192A">
              <a:alpha val="1360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315200" y="0"/>
            <a:ext cx="115570" cy="6858000"/>
          </a:xfrm>
          <a:prstGeom prst="rect">
            <a:avLst/>
          </a:prstGeom>
          <a:solidFill>
            <a:srgbClr val="0C192A">
              <a:alpha val="121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429500" y="0"/>
            <a:ext cx="115570" cy="6858000"/>
          </a:xfrm>
          <a:prstGeom prst="rect">
            <a:avLst/>
          </a:prstGeom>
          <a:solidFill>
            <a:srgbClr val="0C192A">
              <a:alpha val="1065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543800" y="0"/>
            <a:ext cx="115570" cy="6858000"/>
          </a:xfrm>
          <a:prstGeom prst="rect">
            <a:avLst/>
          </a:prstGeom>
          <a:solidFill>
            <a:srgbClr val="0C192A">
              <a:alpha val="912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658100" y="0"/>
            <a:ext cx="115570" cy="6858000"/>
          </a:xfrm>
          <a:prstGeom prst="rect">
            <a:avLst/>
          </a:prstGeom>
          <a:solidFill>
            <a:srgbClr val="0C192A">
              <a:alpha val="754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772400" y="0"/>
            <a:ext cx="115570" cy="6858000"/>
          </a:xfrm>
          <a:prstGeom prst="rect">
            <a:avLst/>
          </a:prstGeom>
          <a:solidFill>
            <a:srgbClr val="0C192A">
              <a:alpha val="590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886700" y="0"/>
            <a:ext cx="115570" cy="6858000"/>
          </a:xfrm>
          <a:prstGeom prst="rect">
            <a:avLst/>
          </a:prstGeom>
          <a:solidFill>
            <a:srgbClr val="0C192A">
              <a:alpha val="418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001000" y="0"/>
            <a:ext cx="115570" cy="6858000"/>
          </a:xfrm>
          <a:prstGeom prst="rect">
            <a:avLst/>
          </a:prstGeom>
          <a:solidFill>
            <a:srgbClr val="0C192A">
              <a:alpha val="232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115300" y="0"/>
            <a:ext cx="115570" cy="6858000"/>
          </a:xfrm>
          <a:prstGeom prst="rect">
            <a:avLst/>
          </a:prstGeom>
          <a:solidFill>
            <a:srgbClr val="0C192A">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660400" y="469900"/>
            <a:ext cx="889000" cy="317500"/>
          </a:xfrm>
          <a:prstGeom prst="roundRect">
            <a:avLst>
              <a:gd name="adj" fmla="val 9000"/>
            </a:avLst>
          </a:prstGeom>
          <a:solidFill>
            <a:srgbClr val="3E9C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60400" y="546100"/>
            <a:ext cx="889000" cy="203200"/>
          </a:xfrm>
          <a:prstGeom prst="rect">
            <a:avLst/>
          </a:prstGeom>
          <a:noFill/>
        </p:spPr>
        <p:txBody>
          <a:bodyPr wrap="none" anchor="t" lIns="0" rIns="0" tIns="0" bIns="0">
            <a:noAutofit/>
          </a:bodyPr>
          <a:lstStyle/>
          <a:p>
            <a:pPr algn="ctr">
              <a:lnSpc>
                <a:spcPts val="1120"/>
              </a:lnSpc>
              <a:spcBef>
                <a:spcPts val="0"/>
              </a:spcBef>
              <a:spcAft>
                <a:spcPts val="0"/>
              </a:spcAft>
            </a:pPr>
            <a:r>
              <a:rPr sz="1000" b="1" i="0" lang="fr-FR" spc="70">
                <a:solidFill>
                  <a:srgbClr val="F6F7F8"/>
                </a:solidFill>
                <a:latin typeface="Arial"/>
              </a:rPr>
              <a:t>PARIS</a:t>
            </a:r>
          </a:p>
        </p:txBody>
      </p:sp>
      <p:sp>
        <p:nvSpPr>
          <p:cNvPr id="78" name="Rounded Rectangle 77"/>
          <p:cNvSpPr/>
          <p:nvPr/>
        </p:nvSpPr>
        <p:spPr>
          <a:xfrm>
            <a:off x="1663700" y="469900"/>
            <a:ext cx="1473200" cy="317500"/>
          </a:xfrm>
          <a:prstGeom prst="roundRect">
            <a:avLst>
              <a:gd name="adj" fmla="val 9000"/>
            </a:avLst>
          </a:prstGeom>
          <a:solidFill>
            <a:srgbClr val="795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663700" y="546100"/>
            <a:ext cx="1473200" cy="203200"/>
          </a:xfrm>
          <a:prstGeom prst="rect">
            <a:avLst/>
          </a:prstGeom>
          <a:noFill/>
        </p:spPr>
        <p:txBody>
          <a:bodyPr wrap="none" anchor="t" lIns="0" rIns="0" tIns="0" bIns="0">
            <a:noAutofit/>
          </a:bodyPr>
          <a:lstStyle/>
          <a:p>
            <a:pPr algn="ctr">
              <a:lnSpc>
                <a:spcPts val="1120"/>
              </a:lnSpc>
              <a:spcBef>
                <a:spcPts val="0"/>
              </a:spcBef>
              <a:spcAft>
                <a:spcPts val="0"/>
              </a:spcAft>
            </a:pPr>
            <a:r>
              <a:rPr sz="1000" b="1" i="0" lang="fr-FR" spc="70">
                <a:solidFill>
                  <a:srgbClr val="F6F7F8"/>
                </a:solidFill>
                <a:latin typeface="Arial"/>
              </a:rPr>
              <a:t>ON MONAD</a:t>
            </a:r>
          </a:p>
        </p:txBody>
      </p:sp>
      <p:sp>
        <p:nvSpPr>
          <p:cNvPr id="80" name="TextBox 79"/>
          <p:cNvSpPr txBox="1"/>
          <p:nvPr/>
        </p:nvSpPr>
        <p:spPr>
          <a:xfrm>
            <a:off x="622300" y="1460500"/>
            <a:ext cx="5892800" cy="1193800"/>
          </a:xfrm>
          <a:prstGeom prst="rect">
            <a:avLst/>
          </a:prstGeom>
          <a:noFill/>
        </p:spPr>
        <p:txBody>
          <a:bodyPr wrap="none" anchor="t" lIns="0" rIns="0" tIns="0" bIns="0">
            <a:noAutofit/>
          </a:bodyPr>
          <a:lstStyle/>
          <a:p>
            <a:pPr algn="l">
              <a:lnSpc>
                <a:spcPts val="8736"/>
              </a:lnSpc>
              <a:spcBef>
                <a:spcPts val="0"/>
              </a:spcBef>
              <a:spcAft>
                <a:spcPts val="0"/>
              </a:spcAft>
            </a:pPr>
            <a:r>
              <a:rPr sz="7800" b="1" i="1" lang="fr-FR">
                <a:ln w="12700">
                  <a:solidFill>
                    <a:srgbClr val="0C192A"/>
                  </a:solidFill>
                </a:ln>
                <a:solidFill>
                  <a:srgbClr val="F6F7F8"/>
                </a:solidFill>
                <a:latin typeface="Arial"/>
              </a:rPr>
              <a:t>SUBWAY</a:t>
            </a:r>
          </a:p>
        </p:txBody>
      </p:sp>
      <p:sp>
        <p:nvSpPr>
          <p:cNvPr id="81" name="TextBox 80"/>
          <p:cNvSpPr txBox="1"/>
          <p:nvPr/>
        </p:nvSpPr>
        <p:spPr>
          <a:xfrm>
            <a:off x="609600" y="2514600"/>
            <a:ext cx="5969000" cy="1193800"/>
          </a:xfrm>
          <a:prstGeom prst="rect">
            <a:avLst/>
          </a:prstGeom>
          <a:noFill/>
        </p:spPr>
        <p:txBody>
          <a:bodyPr wrap="none" anchor="t" lIns="0" rIns="0" tIns="0" bIns="0">
            <a:noAutofit/>
          </a:bodyPr>
          <a:lstStyle/>
          <a:p>
            <a:pPr algn="l">
              <a:lnSpc>
                <a:spcPts val="8736"/>
              </a:lnSpc>
              <a:spcBef>
                <a:spcPts val="0"/>
              </a:spcBef>
              <a:spcAft>
                <a:spcPts val="0"/>
              </a:spcAft>
            </a:pPr>
            <a:r>
              <a:rPr sz="7800" b="1" i="1" lang="fr-FR">
                <a:ln w="12700">
                  <a:solidFill>
                    <a:srgbClr val="0C192A"/>
                  </a:solidFill>
                </a:ln>
                <a:solidFill>
                  <a:srgbClr val="F9D85C"/>
                </a:solidFill>
                <a:latin typeface="Arial"/>
              </a:rPr>
              <a:t>FRAUDER</a:t>
            </a:r>
          </a:p>
        </p:txBody>
      </p:sp>
      <p:sp>
        <p:nvSpPr>
          <p:cNvPr id="82" name="TextBox 81"/>
          <p:cNvSpPr txBox="1"/>
          <p:nvPr/>
        </p:nvSpPr>
        <p:spPr>
          <a:xfrm>
            <a:off x="685800" y="3886200"/>
            <a:ext cx="5816600" cy="444500"/>
          </a:xfrm>
          <a:prstGeom prst="rect">
            <a:avLst/>
          </a:prstGeom>
          <a:noFill/>
        </p:spPr>
        <p:txBody>
          <a:bodyPr wrap="none" anchor="t" lIns="0" rIns="0" tIns="0" bIns="0">
            <a:noAutofit/>
          </a:bodyPr>
          <a:lstStyle/>
          <a:p>
            <a:pPr algn="l">
              <a:lnSpc>
                <a:spcPts val="2800"/>
              </a:lnSpc>
              <a:spcBef>
                <a:spcPts val="0"/>
              </a:spcBef>
              <a:spcAft>
                <a:spcPts val="0"/>
              </a:spcAft>
            </a:pPr>
            <a:r>
              <a:rPr sz="2500" b="1" i="1" lang="fr-FR">
                <a:solidFill>
                  <a:srgbClr val="F6F7F8"/>
                </a:solidFill>
                <a:latin typeface="Arial"/>
              </a:rPr>
              <a:t>BOUGE POUR JOUER.</a:t>
            </a:r>
          </a:p>
        </p:txBody>
      </p:sp>
      <p:sp>
        <p:nvSpPr>
          <p:cNvPr id="83" name="TextBox 82"/>
          <p:cNvSpPr txBox="1"/>
          <p:nvPr/>
        </p:nvSpPr>
        <p:spPr>
          <a:xfrm>
            <a:off x="698500" y="4495800"/>
            <a:ext cx="4889500" cy="749300"/>
          </a:xfrm>
          <a:prstGeom prst="rect">
            <a:avLst/>
          </a:prstGeom>
          <a:noFill/>
        </p:spPr>
        <p:txBody>
          <a:bodyPr wrap="none" anchor="t" lIns="0" rIns="0" tIns="0" bIns="0">
            <a:noAutofit/>
          </a:bodyPr>
          <a:lstStyle/>
          <a:p>
            <a:pPr algn="l">
              <a:lnSpc>
                <a:spcPts val="2565"/>
              </a:lnSpc>
              <a:spcBef>
                <a:spcPts val="0"/>
              </a:spcBef>
              <a:spcAft>
                <a:spcPts val="0"/>
              </a:spcAft>
            </a:pPr>
            <a:r>
              <a:rPr sz="1900" b="0" i="0" lang="fr-FR">
                <a:solidFill>
                  <a:srgbClr val="F6F7F8"/>
                </a:solidFill>
                <a:latin typeface="Arial"/>
              </a:rPr>
              <a:t>Un runner à la webcam.</a:t>
            </a:r>
          </a:p>
          <a:p>
            <a:pPr algn="l">
              <a:lnSpc>
                <a:spcPts val="2565"/>
              </a:lnSpc>
              <a:spcBef>
                <a:spcPts val="0"/>
              </a:spcBef>
              <a:spcAft>
                <a:spcPts val="0"/>
              </a:spcAft>
            </a:pPr>
            <a:r>
              <a:rPr sz="1900" b="0" i="0" lang="fr-FR">
                <a:solidFill>
                  <a:srgbClr val="F6F7F8"/>
                </a:solidFill>
                <a:latin typeface="Arial"/>
              </a:rPr>
              <a:t>Des scores sur Monad.</a:t>
            </a:r>
          </a:p>
        </p:txBody>
      </p:sp>
      <p:sp>
        <p:nvSpPr>
          <p:cNvPr id="84" name="Rounded Rectangle 83"/>
          <p:cNvSpPr/>
          <p:nvPr/>
        </p:nvSpPr>
        <p:spPr>
          <a:xfrm>
            <a:off x="685800" y="5740400"/>
            <a:ext cx="4025900" cy="431800"/>
          </a:xfrm>
          <a:prstGeom prst="roundRect">
            <a:avLst>
              <a:gd name="adj" fmla="val 9000"/>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0100" y="5842000"/>
            <a:ext cx="3784600" cy="279400"/>
          </a:xfrm>
          <a:prstGeom prst="rect">
            <a:avLst/>
          </a:prstGeom>
          <a:noFill/>
        </p:spPr>
        <p:txBody>
          <a:bodyPr wrap="none" anchor="t" lIns="0" rIns="0" tIns="0" bIns="0">
            <a:noAutofit/>
          </a:bodyPr>
          <a:lstStyle/>
          <a:p>
            <a:pPr algn="ctr">
              <a:lnSpc>
                <a:spcPts val="1680"/>
              </a:lnSpc>
              <a:spcBef>
                <a:spcPts val="0"/>
              </a:spcBef>
              <a:spcAft>
                <a:spcPts val="0"/>
              </a:spcAft>
            </a:pPr>
            <a:r>
              <a:rPr sz="1500" b="1" i="0" lang="fr-FR">
                <a:solidFill>
                  <a:srgbClr val="0C192A"/>
                </a:solidFill>
                <a:latin typeface="Arial"/>
              </a:rPr>
              <a:t>Zéro manette. Un peu de cardio.</a:t>
            </a:r>
          </a:p>
        </p:txBody>
      </p:sp>
      <p:sp>
        <p:nvSpPr>
          <p:cNvPr id="86" name="TextBox 85"/>
          <p:cNvSpPr txBox="1"/>
          <p:nvPr/>
        </p:nvSpPr>
        <p:spPr>
          <a:xfrm>
            <a:off x="660400" y="6527800"/>
            <a:ext cx="8890000" cy="177800"/>
          </a:xfrm>
          <a:prstGeom prst="rect">
            <a:avLst/>
          </a:prstGeom>
          <a:noFill/>
        </p:spPr>
        <p:txBody>
          <a:bodyPr wrap="none" anchor="t" lIns="0" rIns="0" tIns="0" bIns="0">
            <a:noAutofit/>
          </a:bodyPr>
          <a:lstStyle/>
          <a:p>
            <a:pPr algn="l">
              <a:lnSpc>
                <a:spcPts val="896"/>
              </a:lnSpc>
              <a:spcBef>
                <a:spcPts val="0"/>
              </a:spcBef>
              <a:spcAft>
                <a:spcPts val="0"/>
              </a:spcAft>
            </a:pPr>
            <a:r>
              <a:rPr sz="800" b="0" i="0" lang="fr-FR" spc="100">
                <a:solidFill>
                  <a:srgbClr val="D3DEE8"/>
                </a:solidFill>
                <a:latin typeface="Arial"/>
              </a:rPr>
              <a:t>SUBWAY FRAUDER  /  MONAD BLITZ PARIS</a:t>
            </a:r>
          </a:p>
        </p:txBody>
      </p:sp>
      <p:sp>
        <p:nvSpPr>
          <p:cNvPr id="87" name="TextBox 86"/>
          <p:cNvSpPr txBox="1"/>
          <p:nvPr/>
        </p:nvSpPr>
        <p:spPr>
          <a:xfrm>
            <a:off x="10591800" y="6527800"/>
            <a:ext cx="939800" cy="177800"/>
          </a:xfrm>
          <a:prstGeom prst="rect">
            <a:avLst/>
          </a:prstGeom>
          <a:noFill/>
        </p:spPr>
        <p:txBody>
          <a:bodyPr wrap="none" anchor="t" lIns="0" rIns="0" tIns="0" bIns="0">
            <a:noAutofit/>
          </a:bodyPr>
          <a:lstStyle/>
          <a:p>
            <a:pPr algn="r">
              <a:lnSpc>
                <a:spcPts val="1008"/>
              </a:lnSpc>
              <a:spcBef>
                <a:spcPts val="0"/>
              </a:spcBef>
              <a:spcAft>
                <a:spcPts val="0"/>
              </a:spcAft>
            </a:pPr>
            <a:r>
              <a:rPr sz="900" b="0" i="0" lang="fr-FR">
                <a:solidFill>
                  <a:srgbClr val="D3DEE8"/>
                </a:solidFill>
                <a:latin typeface="Arial"/>
              </a:rPr>
              <a:t>01 /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2B40"/>
        </a:solidFill>
        <a:effectLst/>
      </p:bgPr>
    </p:bg>
    <p:spTree>
      <p:nvGrpSpPr>
        <p:cNvPr id="1" name=""/>
        <p:cNvGrpSpPr/>
        <p:nvPr/>
      </p:nvGrpSpPr>
      <p:grpSpPr/>
      <p:sp>
        <p:nvSpPr>
          <p:cNvPr id="2" name="TextBox 1"/>
          <p:cNvSpPr txBox="1"/>
          <p:nvPr/>
        </p:nvSpPr>
        <p:spPr>
          <a:xfrm>
            <a:off x="660400" y="317500"/>
            <a:ext cx="8382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6F7F8"/>
                </a:solidFill>
                <a:latin typeface="Arial"/>
              </a:rPr>
              <a:t>SUBWAY</a:t>
            </a:r>
          </a:p>
        </p:txBody>
      </p:sp>
      <p:sp>
        <p:nvSpPr>
          <p:cNvPr id="3" name="TextBox 2"/>
          <p:cNvSpPr txBox="1"/>
          <p:nvPr/>
        </p:nvSpPr>
        <p:spPr>
          <a:xfrm>
            <a:off x="1524000" y="317500"/>
            <a:ext cx="10160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9D85C"/>
                </a:solidFill>
                <a:latin typeface="Arial"/>
              </a:rPr>
              <a:t>FRAUDER</a:t>
            </a:r>
          </a:p>
        </p:txBody>
      </p:sp>
      <p:sp>
        <p:nvSpPr>
          <p:cNvPr id="4" name="TextBox 3"/>
          <p:cNvSpPr txBox="1"/>
          <p:nvPr/>
        </p:nvSpPr>
        <p:spPr>
          <a:xfrm>
            <a:off x="6794500" y="342900"/>
            <a:ext cx="4737100" cy="190500"/>
          </a:xfrm>
          <a:prstGeom prst="rect">
            <a:avLst/>
          </a:prstGeom>
          <a:noFill/>
        </p:spPr>
        <p:txBody>
          <a:bodyPr wrap="none" anchor="t" lIns="0" rIns="0" tIns="0" bIns="0">
            <a:noAutofit/>
          </a:bodyPr>
          <a:lstStyle/>
          <a:p>
            <a:pPr algn="r">
              <a:lnSpc>
                <a:spcPts val="1008"/>
              </a:lnSpc>
              <a:spcBef>
                <a:spcPts val="0"/>
              </a:spcBef>
              <a:spcAft>
                <a:spcPts val="0"/>
              </a:spcAft>
            </a:pPr>
            <a:r>
              <a:rPr sz="900" b="1" i="0" lang="fr-FR" spc="110">
                <a:solidFill>
                  <a:srgbClr val="ACD4E4"/>
                </a:solidFill>
                <a:latin typeface="Arial"/>
              </a:rPr>
              <a:t>DEVINCI BLOCKCHAIN</a:t>
            </a:r>
          </a:p>
        </p:txBody>
      </p:sp>
      <p:cxnSp>
        <p:nvCxnSpPr>
          <p:cNvPr id="5" name="Connector 4"/>
          <p:cNvCxnSpPr/>
          <p:nvPr/>
        </p:nvCxnSpPr>
        <p:spPr>
          <a:xfrm>
            <a:off x="660400" y="698500"/>
            <a:ext cx="10871200" cy="0"/>
          </a:xfrm>
          <a:prstGeom prst="line">
            <a:avLst/>
          </a:prstGeom>
          <a:ln w="7620">
            <a:solidFill>
              <a:srgbClr val="49617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0400" y="6527800"/>
            <a:ext cx="8890000" cy="177800"/>
          </a:xfrm>
          <a:prstGeom prst="rect">
            <a:avLst/>
          </a:prstGeom>
          <a:noFill/>
        </p:spPr>
        <p:txBody>
          <a:bodyPr wrap="none" anchor="t" lIns="0" rIns="0" tIns="0" bIns="0">
            <a:noAutofit/>
          </a:bodyPr>
          <a:lstStyle/>
          <a:p>
            <a:pPr algn="l">
              <a:lnSpc>
                <a:spcPts val="896"/>
              </a:lnSpc>
              <a:spcBef>
                <a:spcPts val="0"/>
              </a:spcBef>
              <a:spcAft>
                <a:spcPts val="0"/>
              </a:spcAft>
            </a:pPr>
            <a:r>
              <a:rPr sz="800" b="0" i="0" lang="fr-FR" spc="100">
                <a:solidFill>
                  <a:srgbClr val="AEC0CE"/>
                </a:solidFill>
                <a:latin typeface="Arial"/>
              </a:rPr>
              <a:t>SUBWAY FRAUDER  /  MONAD BLITZ PARIS</a:t>
            </a:r>
          </a:p>
        </p:txBody>
      </p:sp>
      <p:sp>
        <p:nvSpPr>
          <p:cNvPr id="7" name="TextBox 6"/>
          <p:cNvSpPr txBox="1"/>
          <p:nvPr/>
        </p:nvSpPr>
        <p:spPr>
          <a:xfrm>
            <a:off x="10591800" y="6527800"/>
            <a:ext cx="939800" cy="177800"/>
          </a:xfrm>
          <a:prstGeom prst="rect">
            <a:avLst/>
          </a:prstGeom>
          <a:noFill/>
        </p:spPr>
        <p:txBody>
          <a:bodyPr wrap="none" anchor="t" lIns="0" rIns="0" tIns="0" bIns="0">
            <a:noAutofit/>
          </a:bodyPr>
          <a:lstStyle/>
          <a:p>
            <a:pPr algn="r">
              <a:lnSpc>
                <a:spcPts val="1008"/>
              </a:lnSpc>
              <a:spcBef>
                <a:spcPts val="0"/>
              </a:spcBef>
              <a:spcAft>
                <a:spcPts val="0"/>
              </a:spcAft>
            </a:pPr>
            <a:r>
              <a:rPr sz="900" b="0" i="0" lang="fr-FR">
                <a:solidFill>
                  <a:srgbClr val="AEC0CE"/>
                </a:solidFill>
                <a:latin typeface="Arial"/>
              </a:rPr>
              <a:t>02 / 05</a:t>
            </a:r>
          </a:p>
        </p:txBody>
      </p:sp>
      <p:sp>
        <p:nvSpPr>
          <p:cNvPr id="8" name="TextBox 7"/>
          <p:cNvSpPr txBox="1"/>
          <p:nvPr/>
        </p:nvSpPr>
        <p:spPr>
          <a:xfrm>
            <a:off x="660400" y="1041400"/>
            <a:ext cx="10287000" cy="825500"/>
          </a:xfrm>
          <a:prstGeom prst="rect">
            <a:avLst/>
          </a:prstGeom>
          <a:noFill/>
        </p:spPr>
        <p:txBody>
          <a:bodyPr wrap="none" anchor="t" lIns="0" rIns="0" tIns="0" bIns="0">
            <a:noAutofit/>
          </a:bodyPr>
          <a:lstStyle/>
          <a:p>
            <a:pPr algn="l">
              <a:lnSpc>
                <a:spcPts val="4816"/>
              </a:lnSpc>
              <a:spcBef>
                <a:spcPts val="0"/>
              </a:spcBef>
              <a:spcAft>
                <a:spcPts val="0"/>
              </a:spcAft>
            </a:pPr>
            <a:r>
              <a:rPr sz="4300" b="1" i="1" lang="fr-FR">
                <a:solidFill>
                  <a:srgbClr val="F6F7F8"/>
                </a:solidFill>
                <a:latin typeface="Arial"/>
              </a:rPr>
              <a:t>QUI SOMMES-NOUS ?</a:t>
            </a:r>
          </a:p>
        </p:txBody>
      </p:sp>
      <p:sp>
        <p:nvSpPr>
          <p:cNvPr id="9" name="TextBox 8"/>
          <p:cNvSpPr txBox="1"/>
          <p:nvPr/>
        </p:nvSpPr>
        <p:spPr>
          <a:xfrm>
            <a:off x="685800" y="1816100"/>
            <a:ext cx="10795000" cy="444500"/>
          </a:xfrm>
          <a:prstGeom prst="rect">
            <a:avLst/>
          </a:prstGeom>
          <a:noFill/>
        </p:spPr>
        <p:txBody>
          <a:bodyPr wrap="none" anchor="t" lIns="0" rIns="0" tIns="0" bIns="0">
            <a:noAutofit/>
          </a:bodyPr>
          <a:lstStyle/>
          <a:p>
            <a:pPr algn="l">
              <a:lnSpc>
                <a:spcPts val="2128"/>
              </a:lnSpc>
              <a:spcBef>
                <a:spcPts val="0"/>
              </a:spcBef>
              <a:spcAft>
                <a:spcPts val="0"/>
              </a:spcAft>
            </a:pPr>
            <a:r>
              <a:rPr sz="1900" b="0" i="0" lang="fr-FR">
                <a:solidFill>
                  <a:srgbClr val="AEC0CE"/>
                </a:solidFill>
                <a:latin typeface="Arial"/>
              </a:rPr>
              <a:t>Deux développeurs. Une webcam. Beaucoup trop d’idées.</a:t>
            </a:r>
          </a:p>
        </p:txBody>
      </p:sp>
      <p:sp>
        <p:nvSpPr>
          <p:cNvPr id="10" name="Oval 9"/>
          <p:cNvSpPr/>
          <p:nvPr/>
        </p:nvSpPr>
        <p:spPr>
          <a:xfrm>
            <a:off x="2095500" y="2603500"/>
            <a:ext cx="2667000" cy="2667000"/>
          </a:xfrm>
          <a:prstGeom prst="ellipse">
            <a:avLst/>
          </a:prstGeom>
          <a:noFill/>
          <a:ln w="38100">
            <a:solidFill>
              <a:srgbClr val="F9D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29500" y="2603500"/>
            <a:ext cx="2667000" cy="2667000"/>
          </a:xfrm>
          <a:prstGeom prst="ellipse">
            <a:avLst/>
          </a:prstGeom>
          <a:noFill/>
          <a:ln w="38100">
            <a:solidFill>
              <a:srgbClr val="916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quipe-reference.png"/>
          <p:cNvPicPr>
            <a:picLocks noChangeAspect="1"/>
          </p:cNvPicPr>
          <p:nvPr/>
        </p:nvPicPr>
        <p:blipFill>
          <a:blip r:embed="rId2"/>
          <a:srcRect l="20200" t="32100" r="55500" b="27600"/>
          <a:stretch>
            <a:fillRect/>
          </a:stretch>
        </p:blipFill>
        <p:spPr>
          <a:xfrm>
            <a:off x="2146300" y="2654300"/>
            <a:ext cx="2565400" cy="2565400"/>
          </a:xfrm>
          <a:prstGeom prst="ellipse">
            <a:avLst/>
          </a:prstGeom>
        </p:spPr>
      </p:pic>
      <p:pic>
        <p:nvPicPr>
          <p:cNvPr id="13" name="Picture 12" descr="equipe-reference.png"/>
          <p:cNvPicPr>
            <a:picLocks noChangeAspect="1"/>
          </p:cNvPicPr>
          <p:nvPr/>
        </p:nvPicPr>
        <p:blipFill>
          <a:blip r:embed="rId2"/>
          <a:srcRect l="55600" t="32100" r="20100" b="27600"/>
          <a:stretch>
            <a:fillRect/>
          </a:stretch>
        </p:blipFill>
        <p:spPr>
          <a:xfrm>
            <a:off x="7480300" y="2654300"/>
            <a:ext cx="2565400" cy="2565400"/>
          </a:xfrm>
          <a:prstGeom prst="ellipse">
            <a:avLst/>
          </a:prstGeom>
        </p:spPr>
      </p:pic>
      <p:sp>
        <p:nvSpPr>
          <p:cNvPr id="14" name="Rounded Rectangle 13"/>
          <p:cNvSpPr/>
          <p:nvPr/>
        </p:nvSpPr>
        <p:spPr>
          <a:xfrm>
            <a:off x="2768600" y="2362200"/>
            <a:ext cx="1320800" cy="317500"/>
          </a:xfrm>
          <a:prstGeom prst="roundRect">
            <a:avLst>
              <a:gd name="adj" fmla="val 9000"/>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8600" y="2438400"/>
            <a:ext cx="1320800" cy="203200"/>
          </a:xfrm>
          <a:prstGeom prst="rect">
            <a:avLst/>
          </a:prstGeom>
          <a:noFill/>
        </p:spPr>
        <p:txBody>
          <a:bodyPr wrap="none" anchor="t" lIns="0" rIns="0" tIns="0" bIns="0">
            <a:noAutofit/>
          </a:bodyPr>
          <a:lstStyle/>
          <a:p>
            <a:pPr algn="ctr">
              <a:lnSpc>
                <a:spcPts val="1120"/>
              </a:lnSpc>
              <a:spcBef>
                <a:spcPts val="0"/>
              </a:spcBef>
              <a:spcAft>
                <a:spcPts val="0"/>
              </a:spcAft>
            </a:pPr>
            <a:r>
              <a:rPr sz="1000" b="1" i="0" lang="fr-FR" spc="70">
                <a:solidFill>
                  <a:srgbClr val="0C192A"/>
                </a:solidFill>
                <a:latin typeface="Arial"/>
              </a:rPr>
              <a:t>JOUEUR 01</a:t>
            </a:r>
          </a:p>
        </p:txBody>
      </p:sp>
      <p:sp>
        <p:nvSpPr>
          <p:cNvPr id="16" name="Rounded Rectangle 15"/>
          <p:cNvSpPr/>
          <p:nvPr/>
        </p:nvSpPr>
        <p:spPr>
          <a:xfrm>
            <a:off x="8102600" y="2362200"/>
            <a:ext cx="1320800" cy="317500"/>
          </a:xfrm>
          <a:prstGeom prst="roundRect">
            <a:avLst>
              <a:gd name="adj" fmla="val 9000"/>
            </a:avLst>
          </a:prstGeom>
          <a:solidFill>
            <a:srgbClr val="916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02600" y="2438400"/>
            <a:ext cx="1320800" cy="203200"/>
          </a:xfrm>
          <a:prstGeom prst="rect">
            <a:avLst/>
          </a:prstGeom>
          <a:noFill/>
        </p:spPr>
        <p:txBody>
          <a:bodyPr wrap="none" anchor="t" lIns="0" rIns="0" tIns="0" bIns="0">
            <a:noAutofit/>
          </a:bodyPr>
          <a:lstStyle/>
          <a:p>
            <a:pPr algn="ctr">
              <a:lnSpc>
                <a:spcPts val="1120"/>
              </a:lnSpc>
              <a:spcBef>
                <a:spcPts val="0"/>
              </a:spcBef>
              <a:spcAft>
                <a:spcPts val="0"/>
              </a:spcAft>
            </a:pPr>
            <a:r>
              <a:rPr sz="1000" b="1" i="0" lang="fr-FR" spc="70">
                <a:solidFill>
                  <a:srgbClr val="F6F7F8"/>
                </a:solidFill>
                <a:latin typeface="Arial"/>
              </a:rPr>
              <a:t>JOUEUR 02</a:t>
            </a:r>
          </a:p>
        </p:txBody>
      </p:sp>
      <p:sp>
        <p:nvSpPr>
          <p:cNvPr id="18" name="TextBox 17"/>
          <p:cNvSpPr txBox="1"/>
          <p:nvPr/>
        </p:nvSpPr>
        <p:spPr>
          <a:xfrm>
            <a:off x="1193800" y="5537200"/>
            <a:ext cx="4470400" cy="508000"/>
          </a:xfrm>
          <a:prstGeom prst="rect">
            <a:avLst/>
          </a:prstGeom>
          <a:noFill/>
        </p:spPr>
        <p:txBody>
          <a:bodyPr wrap="none" anchor="t" lIns="0" rIns="0" tIns="0" bIns="0">
            <a:noAutofit/>
          </a:bodyPr>
          <a:lstStyle/>
          <a:p>
            <a:pPr algn="ctr">
              <a:lnSpc>
                <a:spcPts val="3136"/>
              </a:lnSpc>
              <a:spcBef>
                <a:spcPts val="0"/>
              </a:spcBef>
              <a:spcAft>
                <a:spcPts val="0"/>
              </a:spcAft>
            </a:pPr>
            <a:r>
              <a:rPr sz="2800" b="1" i="0" lang="fr-FR">
                <a:solidFill>
                  <a:srgbClr val="F6F7F8"/>
                </a:solidFill>
                <a:latin typeface="Arial"/>
              </a:rPr>
              <a:t>Ali BEN YEZZA</a:t>
            </a:r>
          </a:p>
        </p:txBody>
      </p:sp>
      <p:sp>
        <p:nvSpPr>
          <p:cNvPr id="19" name="TextBox 18"/>
          <p:cNvSpPr txBox="1"/>
          <p:nvPr/>
        </p:nvSpPr>
        <p:spPr>
          <a:xfrm>
            <a:off x="6527800" y="5537200"/>
            <a:ext cx="4470400" cy="508000"/>
          </a:xfrm>
          <a:prstGeom prst="rect">
            <a:avLst/>
          </a:prstGeom>
          <a:noFill/>
        </p:spPr>
        <p:txBody>
          <a:bodyPr wrap="none" anchor="t" lIns="0" rIns="0" tIns="0" bIns="0">
            <a:noAutofit/>
          </a:bodyPr>
          <a:lstStyle/>
          <a:p>
            <a:pPr algn="ctr">
              <a:lnSpc>
                <a:spcPts val="3136"/>
              </a:lnSpc>
              <a:spcBef>
                <a:spcPts val="0"/>
              </a:spcBef>
              <a:spcAft>
                <a:spcPts val="0"/>
              </a:spcAft>
            </a:pPr>
            <a:r>
              <a:rPr sz="2800" b="1" i="0" lang="fr-FR">
                <a:solidFill>
                  <a:srgbClr val="F6F7F8"/>
                </a:solidFill>
                <a:latin typeface="Arial"/>
              </a:rPr>
              <a:t>Noé WALES</a:t>
            </a:r>
          </a:p>
        </p:txBody>
      </p:sp>
      <p:sp>
        <p:nvSpPr>
          <p:cNvPr id="20" name="Oval 19"/>
          <p:cNvSpPr/>
          <p:nvPr/>
        </p:nvSpPr>
        <p:spPr>
          <a:xfrm>
            <a:off x="5892800" y="636270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72200" y="627761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51600" y="619252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31000" y="610743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010400" y="602234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289800" y="593725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69200" y="585216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848600" y="576707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128000" y="568198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407400" y="559689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686800" y="551180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966200" y="542671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245600" y="534162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525000" y="525653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804400" y="517144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83800" y="5086350"/>
            <a:ext cx="38100" cy="38100"/>
          </a:xfrm>
          <a:prstGeom prst="ellipse">
            <a:avLst/>
          </a:prstGeom>
          <a:solidFill>
            <a:srgbClr val="4961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2B40"/>
        </a:solidFill>
        <a:effectLst/>
      </p:bgPr>
    </p:bg>
    <p:spTree>
      <p:nvGrpSpPr>
        <p:cNvPr id="1" name=""/>
        <p:cNvGrpSpPr/>
        <p:nvPr/>
      </p:nvGrpSpPr>
      <p:grpSpPr/>
      <p:sp>
        <p:nvSpPr>
          <p:cNvPr id="2" name="TextBox 1"/>
          <p:cNvSpPr txBox="1"/>
          <p:nvPr/>
        </p:nvSpPr>
        <p:spPr>
          <a:xfrm>
            <a:off x="660400" y="317500"/>
            <a:ext cx="8382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6F7F8"/>
                </a:solidFill>
                <a:latin typeface="Arial"/>
              </a:rPr>
              <a:t>SUBWAY</a:t>
            </a:r>
          </a:p>
        </p:txBody>
      </p:sp>
      <p:sp>
        <p:nvSpPr>
          <p:cNvPr id="3" name="TextBox 2"/>
          <p:cNvSpPr txBox="1"/>
          <p:nvPr/>
        </p:nvSpPr>
        <p:spPr>
          <a:xfrm>
            <a:off x="1524000" y="317500"/>
            <a:ext cx="10160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9D85C"/>
                </a:solidFill>
                <a:latin typeface="Arial"/>
              </a:rPr>
              <a:t>FRAUDER</a:t>
            </a:r>
          </a:p>
        </p:txBody>
      </p:sp>
      <p:sp>
        <p:nvSpPr>
          <p:cNvPr id="4" name="TextBox 3"/>
          <p:cNvSpPr txBox="1"/>
          <p:nvPr/>
        </p:nvSpPr>
        <p:spPr>
          <a:xfrm>
            <a:off x="6794500" y="342900"/>
            <a:ext cx="4737100" cy="190500"/>
          </a:xfrm>
          <a:prstGeom prst="rect">
            <a:avLst/>
          </a:prstGeom>
          <a:noFill/>
        </p:spPr>
        <p:txBody>
          <a:bodyPr wrap="none" anchor="t" lIns="0" rIns="0" tIns="0" bIns="0">
            <a:noAutofit/>
          </a:bodyPr>
          <a:lstStyle/>
          <a:p>
            <a:pPr algn="r">
              <a:lnSpc>
                <a:spcPts val="1008"/>
              </a:lnSpc>
              <a:spcBef>
                <a:spcPts val="0"/>
              </a:spcBef>
              <a:spcAft>
                <a:spcPts val="0"/>
              </a:spcAft>
            </a:pPr>
            <a:r>
              <a:rPr sz="900" b="1" i="0" lang="fr-FR" spc="110">
                <a:solidFill>
                  <a:srgbClr val="ACD4E4"/>
                </a:solidFill>
                <a:latin typeface="Arial"/>
              </a:rPr>
              <a:t>COMMENT ÇA SE JOUE</a:t>
            </a:r>
          </a:p>
        </p:txBody>
      </p:sp>
      <p:cxnSp>
        <p:nvCxnSpPr>
          <p:cNvPr id="5" name="Connector 4"/>
          <p:cNvCxnSpPr/>
          <p:nvPr/>
        </p:nvCxnSpPr>
        <p:spPr>
          <a:xfrm>
            <a:off x="660400" y="698500"/>
            <a:ext cx="10871200" cy="0"/>
          </a:xfrm>
          <a:prstGeom prst="line">
            <a:avLst/>
          </a:prstGeom>
          <a:ln w="7620">
            <a:solidFill>
              <a:srgbClr val="49617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0400" y="6527800"/>
            <a:ext cx="8890000" cy="177800"/>
          </a:xfrm>
          <a:prstGeom prst="rect">
            <a:avLst/>
          </a:prstGeom>
          <a:noFill/>
        </p:spPr>
        <p:txBody>
          <a:bodyPr wrap="none" anchor="t" lIns="0" rIns="0" tIns="0" bIns="0">
            <a:noAutofit/>
          </a:bodyPr>
          <a:lstStyle/>
          <a:p>
            <a:pPr algn="l">
              <a:lnSpc>
                <a:spcPts val="896"/>
              </a:lnSpc>
              <a:spcBef>
                <a:spcPts val="0"/>
              </a:spcBef>
              <a:spcAft>
                <a:spcPts val="0"/>
              </a:spcAft>
            </a:pPr>
            <a:r>
              <a:rPr sz="800" b="0" i="0" lang="fr-FR" spc="100">
                <a:solidFill>
                  <a:srgbClr val="AEC0CE"/>
                </a:solidFill>
                <a:latin typeface="Arial"/>
              </a:rPr>
              <a:t>SUBWAY FRAUDER  /  MONAD BLITZ PARIS</a:t>
            </a:r>
          </a:p>
        </p:txBody>
      </p:sp>
      <p:sp>
        <p:nvSpPr>
          <p:cNvPr id="7" name="TextBox 6"/>
          <p:cNvSpPr txBox="1"/>
          <p:nvPr/>
        </p:nvSpPr>
        <p:spPr>
          <a:xfrm>
            <a:off x="10591800" y="6527800"/>
            <a:ext cx="939800" cy="177800"/>
          </a:xfrm>
          <a:prstGeom prst="rect">
            <a:avLst/>
          </a:prstGeom>
          <a:noFill/>
        </p:spPr>
        <p:txBody>
          <a:bodyPr wrap="none" anchor="t" lIns="0" rIns="0" tIns="0" bIns="0">
            <a:noAutofit/>
          </a:bodyPr>
          <a:lstStyle/>
          <a:p>
            <a:pPr algn="r">
              <a:lnSpc>
                <a:spcPts val="1008"/>
              </a:lnSpc>
              <a:spcBef>
                <a:spcPts val="0"/>
              </a:spcBef>
              <a:spcAft>
                <a:spcPts val="0"/>
              </a:spcAft>
            </a:pPr>
            <a:r>
              <a:rPr sz="900" b="0" i="0" lang="fr-FR">
                <a:solidFill>
                  <a:srgbClr val="AEC0CE"/>
                </a:solidFill>
                <a:latin typeface="Arial"/>
              </a:rPr>
              <a:t>03 / 05</a:t>
            </a:r>
          </a:p>
        </p:txBody>
      </p:sp>
      <p:sp>
        <p:nvSpPr>
          <p:cNvPr id="8" name="TextBox 7"/>
          <p:cNvSpPr txBox="1"/>
          <p:nvPr/>
        </p:nvSpPr>
        <p:spPr>
          <a:xfrm>
            <a:off x="660400" y="1104900"/>
            <a:ext cx="8001000" cy="800100"/>
          </a:xfrm>
          <a:prstGeom prst="rect">
            <a:avLst/>
          </a:prstGeom>
          <a:noFill/>
        </p:spPr>
        <p:txBody>
          <a:bodyPr wrap="none" anchor="t" lIns="0" rIns="0" tIns="0" bIns="0">
            <a:noAutofit/>
          </a:bodyPr>
          <a:lstStyle/>
          <a:p>
            <a:pPr algn="l">
              <a:lnSpc>
                <a:spcPts val="5376"/>
              </a:lnSpc>
              <a:spcBef>
                <a:spcPts val="0"/>
              </a:spcBef>
              <a:spcAft>
                <a:spcPts val="0"/>
              </a:spcAft>
            </a:pPr>
            <a:r>
              <a:rPr sz="4800" b="1" i="1" lang="fr-FR">
                <a:solidFill>
                  <a:srgbClr val="F6F7F8"/>
                </a:solidFill>
                <a:latin typeface="Arial"/>
              </a:rPr>
              <a:t>LA MANETTE,</a:t>
            </a:r>
          </a:p>
        </p:txBody>
      </p:sp>
      <p:sp>
        <p:nvSpPr>
          <p:cNvPr id="9" name="TextBox 8"/>
          <p:cNvSpPr txBox="1"/>
          <p:nvPr/>
        </p:nvSpPr>
        <p:spPr>
          <a:xfrm>
            <a:off x="635000" y="1841500"/>
            <a:ext cx="8001000" cy="800100"/>
          </a:xfrm>
          <a:prstGeom prst="rect">
            <a:avLst/>
          </a:prstGeom>
          <a:noFill/>
        </p:spPr>
        <p:txBody>
          <a:bodyPr wrap="none" anchor="t" lIns="0" rIns="0" tIns="0" bIns="0">
            <a:noAutofit/>
          </a:bodyPr>
          <a:lstStyle/>
          <a:p>
            <a:pPr algn="l">
              <a:lnSpc>
                <a:spcPts val="5376"/>
              </a:lnSpc>
              <a:spcBef>
                <a:spcPts val="0"/>
              </a:spcBef>
              <a:spcAft>
                <a:spcPts val="0"/>
              </a:spcAft>
            </a:pPr>
            <a:r>
              <a:rPr sz="4800" b="1" i="1" lang="fr-FR">
                <a:solidFill>
                  <a:srgbClr val="F9D85C"/>
                </a:solidFill>
                <a:latin typeface="Arial"/>
              </a:rPr>
              <a:t>C’EST TOI.</a:t>
            </a:r>
          </a:p>
        </p:txBody>
      </p:sp>
      <p:sp>
        <p:nvSpPr>
          <p:cNvPr id="10" name="TextBox 9"/>
          <p:cNvSpPr txBox="1"/>
          <p:nvPr/>
        </p:nvSpPr>
        <p:spPr>
          <a:xfrm>
            <a:off x="8928100" y="1231900"/>
            <a:ext cx="2730500" cy="1320800"/>
          </a:xfrm>
          <a:prstGeom prst="rect">
            <a:avLst/>
          </a:prstGeom>
          <a:noFill/>
        </p:spPr>
        <p:txBody>
          <a:bodyPr wrap="none" anchor="t" lIns="0" rIns="0" tIns="0" bIns="0">
            <a:noAutofit/>
          </a:bodyPr>
          <a:lstStyle/>
          <a:p>
            <a:pPr algn="l">
              <a:lnSpc>
                <a:spcPts val="2835"/>
              </a:lnSpc>
              <a:spcBef>
                <a:spcPts val="0"/>
              </a:spcBef>
              <a:spcAft>
                <a:spcPts val="0"/>
              </a:spcAft>
            </a:pPr>
            <a:r>
              <a:rPr sz="2100" b="0" i="0" lang="fr-FR">
                <a:solidFill>
                  <a:srgbClr val="F6F7F8"/>
                </a:solidFill>
                <a:latin typeface="Arial"/>
              </a:rPr>
              <a:t>Une webcam.</a:t>
            </a:r>
          </a:p>
          <a:p>
            <a:pPr algn="l">
              <a:lnSpc>
                <a:spcPts val="2835"/>
              </a:lnSpc>
              <a:spcBef>
                <a:spcPts val="0"/>
              </a:spcBef>
              <a:spcAft>
                <a:spcPts val="0"/>
              </a:spcAft>
            </a:pPr>
            <a:r>
              <a:rPr sz="2100" b="0" i="0" lang="fr-FR">
                <a:solidFill>
                  <a:srgbClr val="F6F7F8"/>
                </a:solidFill>
                <a:latin typeface="Arial"/>
              </a:rPr>
              <a:t>Un navigateur.</a:t>
            </a:r>
          </a:p>
          <a:p>
            <a:pPr algn="l">
              <a:lnSpc>
                <a:spcPts val="2835"/>
              </a:lnSpc>
              <a:spcBef>
                <a:spcPts val="0"/>
              </a:spcBef>
              <a:spcAft>
                <a:spcPts val="0"/>
              </a:spcAft>
            </a:pPr>
            <a:r>
              <a:rPr sz="2100" b="0" i="0" lang="fr-FR">
                <a:solidFill>
                  <a:srgbClr val="F6F7F8"/>
                </a:solidFill>
                <a:latin typeface="Arial"/>
              </a:rPr>
              <a:t>Et des jambes.</a:t>
            </a:r>
          </a:p>
        </p:txBody>
      </p:sp>
      <p:sp>
        <p:nvSpPr>
          <p:cNvPr id="11" name="Rounded Rectangle 10"/>
          <p:cNvSpPr/>
          <p:nvPr/>
        </p:nvSpPr>
        <p:spPr>
          <a:xfrm>
            <a:off x="660400" y="3162300"/>
            <a:ext cx="2489200" cy="2133600"/>
          </a:xfrm>
          <a:prstGeom prst="roundRect">
            <a:avLst>
              <a:gd name="adj" fmla="val 9000"/>
            </a:avLst>
          </a:prstGeom>
          <a:solidFill>
            <a:srgbClr val="20364C"/>
          </a:solidFill>
          <a:ln w="1397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76300" y="3162300"/>
            <a:ext cx="520700" cy="0"/>
          </a:xfrm>
          <a:prstGeom prst="line">
            <a:avLst/>
          </a:prstGeom>
          <a:ln w="33020">
            <a:solidFill>
              <a:srgbClr val="F9D85C"/>
            </a:solidFill>
          </a:ln>
        </p:spPr>
        <p:style>
          <a:lnRef idx="2">
            <a:schemeClr val="accent1"/>
          </a:lnRef>
          <a:fillRef idx="0">
            <a:schemeClr val="accent1"/>
          </a:fillRef>
          <a:effectRef idx="1">
            <a:schemeClr val="accent1"/>
          </a:effectRef>
          <a:fontRef idx="minor">
            <a:schemeClr val="tx1"/>
          </a:fontRef>
        </p:style>
      </p:cxnSp>
      <p:sp>
        <p:nvSpPr>
          <p:cNvPr id="13" name="Left Arrow 12"/>
          <p:cNvSpPr/>
          <p:nvPr/>
        </p:nvSpPr>
        <p:spPr>
          <a:xfrm>
            <a:off x="1587500" y="3441700"/>
            <a:ext cx="635000" cy="596900"/>
          </a:xfrm>
          <a:prstGeom prst="leftArrow">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4292600"/>
            <a:ext cx="2286000" cy="355600"/>
          </a:xfrm>
          <a:prstGeom prst="rect">
            <a:avLst/>
          </a:prstGeom>
          <a:noFill/>
        </p:spPr>
        <p:txBody>
          <a:bodyPr wrap="none" anchor="t" lIns="0" rIns="0" tIns="0" bIns="0">
            <a:noAutofit/>
          </a:bodyPr>
          <a:lstStyle/>
          <a:p>
            <a:pPr algn="ctr">
              <a:lnSpc>
                <a:spcPts val="2128"/>
              </a:lnSpc>
              <a:spcBef>
                <a:spcPts val="0"/>
              </a:spcBef>
              <a:spcAft>
                <a:spcPts val="0"/>
              </a:spcAft>
            </a:pPr>
            <a:r>
              <a:rPr sz="1900" b="1" i="0" lang="fr-FR">
                <a:solidFill>
                  <a:srgbClr val="F6F7F8"/>
                </a:solidFill>
                <a:latin typeface="Arial"/>
              </a:rPr>
              <a:t>GAUCHE</a:t>
            </a:r>
          </a:p>
        </p:txBody>
      </p:sp>
      <p:sp>
        <p:nvSpPr>
          <p:cNvPr id="15" name="TextBox 14"/>
          <p:cNvSpPr txBox="1"/>
          <p:nvPr/>
        </p:nvSpPr>
        <p:spPr>
          <a:xfrm>
            <a:off x="762000" y="4737100"/>
            <a:ext cx="2286000" cy="304800"/>
          </a:xfrm>
          <a:prstGeom prst="rect">
            <a:avLst/>
          </a:prstGeom>
          <a:noFill/>
        </p:spPr>
        <p:txBody>
          <a:bodyPr wrap="none" anchor="t" lIns="0" rIns="0" tIns="0" bIns="0">
            <a:noAutofit/>
          </a:bodyPr>
          <a:lstStyle/>
          <a:p>
            <a:pPr algn="ctr">
              <a:lnSpc>
                <a:spcPts val="1456"/>
              </a:lnSpc>
              <a:spcBef>
                <a:spcPts val="0"/>
              </a:spcBef>
              <a:spcAft>
                <a:spcPts val="0"/>
              </a:spcAft>
            </a:pPr>
            <a:r>
              <a:rPr sz="1300" b="0" i="0" lang="fr-FR">
                <a:solidFill>
                  <a:srgbClr val="AEC0CE"/>
                </a:solidFill>
                <a:latin typeface="Arial"/>
              </a:rPr>
              <a:t>Change de voie</a:t>
            </a:r>
          </a:p>
        </p:txBody>
      </p:sp>
      <p:sp>
        <p:nvSpPr>
          <p:cNvPr id="16" name="Rounded Rectangle 15"/>
          <p:cNvSpPr/>
          <p:nvPr/>
        </p:nvSpPr>
        <p:spPr>
          <a:xfrm>
            <a:off x="3454400" y="3162300"/>
            <a:ext cx="2489200" cy="2133600"/>
          </a:xfrm>
          <a:prstGeom prst="roundRect">
            <a:avLst>
              <a:gd name="adj" fmla="val 9000"/>
            </a:avLst>
          </a:prstGeom>
          <a:solidFill>
            <a:srgbClr val="20364C"/>
          </a:solidFill>
          <a:ln w="1397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3670300" y="3162300"/>
            <a:ext cx="520700" cy="0"/>
          </a:xfrm>
          <a:prstGeom prst="line">
            <a:avLst/>
          </a:prstGeom>
          <a:ln w="33020">
            <a:solidFill>
              <a:srgbClr val="F9D85C"/>
            </a:solidFill>
          </a:ln>
        </p:spPr>
        <p:style>
          <a:lnRef idx="2">
            <a:schemeClr val="accent1"/>
          </a:lnRef>
          <a:fillRef idx="0">
            <a:schemeClr val="accent1"/>
          </a:fillRef>
          <a:effectRef idx="1">
            <a:schemeClr val="accent1"/>
          </a:effectRef>
          <a:fontRef idx="minor">
            <a:schemeClr val="tx1"/>
          </a:fontRef>
        </p:style>
      </p:cxnSp>
      <p:sp>
        <p:nvSpPr>
          <p:cNvPr id="18" name="Right Arrow 17"/>
          <p:cNvSpPr/>
          <p:nvPr/>
        </p:nvSpPr>
        <p:spPr>
          <a:xfrm>
            <a:off x="4381500" y="3441700"/>
            <a:ext cx="635000" cy="596900"/>
          </a:xfrm>
          <a:prstGeom prst="rightArrow">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000" y="4292600"/>
            <a:ext cx="2286000" cy="355600"/>
          </a:xfrm>
          <a:prstGeom prst="rect">
            <a:avLst/>
          </a:prstGeom>
          <a:noFill/>
        </p:spPr>
        <p:txBody>
          <a:bodyPr wrap="none" anchor="t" lIns="0" rIns="0" tIns="0" bIns="0">
            <a:noAutofit/>
          </a:bodyPr>
          <a:lstStyle/>
          <a:p>
            <a:pPr algn="ctr">
              <a:lnSpc>
                <a:spcPts val="2128"/>
              </a:lnSpc>
              <a:spcBef>
                <a:spcPts val="0"/>
              </a:spcBef>
              <a:spcAft>
                <a:spcPts val="0"/>
              </a:spcAft>
            </a:pPr>
            <a:r>
              <a:rPr sz="1900" b="1" i="0" lang="fr-FR">
                <a:solidFill>
                  <a:srgbClr val="F6F7F8"/>
                </a:solidFill>
                <a:latin typeface="Arial"/>
              </a:rPr>
              <a:t>DROITE</a:t>
            </a:r>
          </a:p>
        </p:txBody>
      </p:sp>
      <p:sp>
        <p:nvSpPr>
          <p:cNvPr id="20" name="TextBox 19"/>
          <p:cNvSpPr txBox="1"/>
          <p:nvPr/>
        </p:nvSpPr>
        <p:spPr>
          <a:xfrm>
            <a:off x="3556000" y="4737100"/>
            <a:ext cx="2286000" cy="304800"/>
          </a:xfrm>
          <a:prstGeom prst="rect">
            <a:avLst/>
          </a:prstGeom>
          <a:noFill/>
        </p:spPr>
        <p:txBody>
          <a:bodyPr wrap="none" anchor="t" lIns="0" rIns="0" tIns="0" bIns="0">
            <a:noAutofit/>
          </a:bodyPr>
          <a:lstStyle/>
          <a:p>
            <a:pPr algn="ctr">
              <a:lnSpc>
                <a:spcPts val="1456"/>
              </a:lnSpc>
              <a:spcBef>
                <a:spcPts val="0"/>
              </a:spcBef>
              <a:spcAft>
                <a:spcPts val="0"/>
              </a:spcAft>
            </a:pPr>
            <a:r>
              <a:rPr sz="1300" b="0" i="0" lang="fr-FR">
                <a:solidFill>
                  <a:srgbClr val="AEC0CE"/>
                </a:solidFill>
                <a:latin typeface="Arial"/>
              </a:rPr>
              <a:t>Évite les obstacles</a:t>
            </a:r>
          </a:p>
        </p:txBody>
      </p:sp>
      <p:sp>
        <p:nvSpPr>
          <p:cNvPr id="21" name="Rounded Rectangle 20"/>
          <p:cNvSpPr/>
          <p:nvPr/>
        </p:nvSpPr>
        <p:spPr>
          <a:xfrm>
            <a:off x="6248400" y="3162300"/>
            <a:ext cx="2489200" cy="2133600"/>
          </a:xfrm>
          <a:prstGeom prst="roundRect">
            <a:avLst>
              <a:gd name="adj" fmla="val 9000"/>
            </a:avLst>
          </a:prstGeom>
          <a:solidFill>
            <a:srgbClr val="20364C"/>
          </a:solidFill>
          <a:ln w="1397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464300" y="3162300"/>
            <a:ext cx="520700" cy="0"/>
          </a:xfrm>
          <a:prstGeom prst="line">
            <a:avLst/>
          </a:prstGeom>
          <a:ln w="33020">
            <a:solidFill>
              <a:srgbClr val="9167ED"/>
            </a:solidFill>
          </a:ln>
        </p:spPr>
        <p:style>
          <a:lnRef idx="2">
            <a:schemeClr val="accent1"/>
          </a:lnRef>
          <a:fillRef idx="0">
            <a:schemeClr val="accent1"/>
          </a:fillRef>
          <a:effectRef idx="1">
            <a:schemeClr val="accent1"/>
          </a:effectRef>
          <a:fontRef idx="minor">
            <a:schemeClr val="tx1"/>
          </a:fontRef>
        </p:style>
      </p:cxnSp>
      <p:sp>
        <p:nvSpPr>
          <p:cNvPr id="23" name="Up Arrow 22"/>
          <p:cNvSpPr/>
          <p:nvPr/>
        </p:nvSpPr>
        <p:spPr>
          <a:xfrm>
            <a:off x="7175500" y="3441700"/>
            <a:ext cx="635000" cy="596900"/>
          </a:xfrm>
          <a:prstGeom prst="upArrow">
            <a:avLst/>
          </a:prstGeom>
          <a:solidFill>
            <a:srgbClr val="916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0" y="4292600"/>
            <a:ext cx="2286000" cy="355600"/>
          </a:xfrm>
          <a:prstGeom prst="rect">
            <a:avLst/>
          </a:prstGeom>
          <a:noFill/>
        </p:spPr>
        <p:txBody>
          <a:bodyPr wrap="none" anchor="t" lIns="0" rIns="0" tIns="0" bIns="0">
            <a:noAutofit/>
          </a:bodyPr>
          <a:lstStyle/>
          <a:p>
            <a:pPr algn="ctr">
              <a:lnSpc>
                <a:spcPts val="2128"/>
              </a:lnSpc>
              <a:spcBef>
                <a:spcPts val="0"/>
              </a:spcBef>
              <a:spcAft>
                <a:spcPts val="0"/>
              </a:spcAft>
            </a:pPr>
            <a:r>
              <a:rPr sz="1900" b="1" i="0" lang="fr-FR">
                <a:solidFill>
                  <a:srgbClr val="F6F7F8"/>
                </a:solidFill>
                <a:latin typeface="Arial"/>
              </a:rPr>
              <a:t>SAUT</a:t>
            </a:r>
          </a:p>
        </p:txBody>
      </p:sp>
      <p:sp>
        <p:nvSpPr>
          <p:cNvPr id="25" name="TextBox 24"/>
          <p:cNvSpPr txBox="1"/>
          <p:nvPr/>
        </p:nvSpPr>
        <p:spPr>
          <a:xfrm>
            <a:off x="6350000" y="4737100"/>
            <a:ext cx="2286000" cy="304800"/>
          </a:xfrm>
          <a:prstGeom prst="rect">
            <a:avLst/>
          </a:prstGeom>
          <a:noFill/>
        </p:spPr>
        <p:txBody>
          <a:bodyPr wrap="none" anchor="t" lIns="0" rIns="0" tIns="0" bIns="0">
            <a:noAutofit/>
          </a:bodyPr>
          <a:lstStyle/>
          <a:p>
            <a:pPr algn="ctr">
              <a:lnSpc>
                <a:spcPts val="1456"/>
              </a:lnSpc>
              <a:spcBef>
                <a:spcPts val="0"/>
              </a:spcBef>
              <a:spcAft>
                <a:spcPts val="0"/>
              </a:spcAft>
            </a:pPr>
            <a:r>
              <a:rPr sz="1300" b="0" i="0" lang="fr-FR">
                <a:solidFill>
                  <a:srgbClr val="AEC0CE"/>
                </a:solidFill>
                <a:latin typeface="Arial"/>
              </a:rPr>
              <a:t>Passe au-dessus</a:t>
            </a:r>
          </a:p>
        </p:txBody>
      </p:sp>
      <p:sp>
        <p:nvSpPr>
          <p:cNvPr id="26" name="Rounded Rectangle 25"/>
          <p:cNvSpPr/>
          <p:nvPr/>
        </p:nvSpPr>
        <p:spPr>
          <a:xfrm>
            <a:off x="9042400" y="3162300"/>
            <a:ext cx="2489200" cy="2133600"/>
          </a:xfrm>
          <a:prstGeom prst="roundRect">
            <a:avLst>
              <a:gd name="adj" fmla="val 9000"/>
            </a:avLst>
          </a:prstGeom>
          <a:solidFill>
            <a:srgbClr val="20364C"/>
          </a:solidFill>
          <a:ln w="1397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258300" y="3162300"/>
            <a:ext cx="520700" cy="0"/>
          </a:xfrm>
          <a:prstGeom prst="line">
            <a:avLst/>
          </a:prstGeom>
          <a:ln w="33020">
            <a:solidFill>
              <a:srgbClr val="9167ED"/>
            </a:solidFill>
          </a:ln>
        </p:spPr>
        <p:style>
          <a:lnRef idx="2">
            <a:schemeClr val="accent1"/>
          </a:lnRef>
          <a:fillRef idx="0">
            <a:schemeClr val="accent1"/>
          </a:fillRef>
          <a:effectRef idx="1">
            <a:schemeClr val="accent1"/>
          </a:effectRef>
          <a:fontRef idx="minor">
            <a:schemeClr val="tx1"/>
          </a:fontRef>
        </p:style>
      </p:cxnSp>
      <p:sp>
        <p:nvSpPr>
          <p:cNvPr id="28" name="Down Arrow 27"/>
          <p:cNvSpPr/>
          <p:nvPr/>
        </p:nvSpPr>
        <p:spPr>
          <a:xfrm>
            <a:off x="9969500" y="3441700"/>
            <a:ext cx="635000" cy="596900"/>
          </a:xfrm>
          <a:prstGeom prst="downArrow">
            <a:avLst/>
          </a:prstGeom>
          <a:solidFill>
            <a:srgbClr val="916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0" y="4292600"/>
            <a:ext cx="2286000" cy="355600"/>
          </a:xfrm>
          <a:prstGeom prst="rect">
            <a:avLst/>
          </a:prstGeom>
          <a:noFill/>
        </p:spPr>
        <p:txBody>
          <a:bodyPr wrap="none" anchor="t" lIns="0" rIns="0" tIns="0" bIns="0">
            <a:noAutofit/>
          </a:bodyPr>
          <a:lstStyle/>
          <a:p>
            <a:pPr algn="ctr">
              <a:lnSpc>
                <a:spcPts val="2128"/>
              </a:lnSpc>
              <a:spcBef>
                <a:spcPts val="0"/>
              </a:spcBef>
              <a:spcAft>
                <a:spcPts val="0"/>
              </a:spcAft>
            </a:pPr>
            <a:r>
              <a:rPr sz="1900" b="1" i="0" lang="fr-FR">
                <a:solidFill>
                  <a:srgbClr val="F6F7F8"/>
                </a:solidFill>
                <a:latin typeface="Arial"/>
              </a:rPr>
              <a:t>ACCROUPI</a:t>
            </a:r>
          </a:p>
        </p:txBody>
      </p:sp>
      <p:sp>
        <p:nvSpPr>
          <p:cNvPr id="30" name="TextBox 29"/>
          <p:cNvSpPr txBox="1"/>
          <p:nvPr/>
        </p:nvSpPr>
        <p:spPr>
          <a:xfrm>
            <a:off x="9144000" y="4737100"/>
            <a:ext cx="2286000" cy="304800"/>
          </a:xfrm>
          <a:prstGeom prst="rect">
            <a:avLst/>
          </a:prstGeom>
          <a:noFill/>
        </p:spPr>
        <p:txBody>
          <a:bodyPr wrap="none" anchor="t" lIns="0" rIns="0" tIns="0" bIns="0">
            <a:noAutofit/>
          </a:bodyPr>
          <a:lstStyle/>
          <a:p>
            <a:pPr algn="ctr">
              <a:lnSpc>
                <a:spcPts val="1456"/>
              </a:lnSpc>
              <a:spcBef>
                <a:spcPts val="0"/>
              </a:spcBef>
              <a:spcAft>
                <a:spcPts val="0"/>
              </a:spcAft>
            </a:pPr>
            <a:r>
              <a:rPr sz="1300" b="0" i="0" lang="fr-FR">
                <a:solidFill>
                  <a:srgbClr val="AEC0CE"/>
                </a:solidFill>
                <a:latin typeface="Arial"/>
              </a:rPr>
              <a:t>Passe en dessous</a:t>
            </a:r>
          </a:p>
        </p:txBody>
      </p:sp>
      <p:sp>
        <p:nvSpPr>
          <p:cNvPr id="31" name="TextBox 30"/>
          <p:cNvSpPr txBox="1"/>
          <p:nvPr/>
        </p:nvSpPr>
        <p:spPr>
          <a:xfrm>
            <a:off x="660400" y="5727700"/>
            <a:ext cx="7658100" cy="419100"/>
          </a:xfrm>
          <a:prstGeom prst="rect">
            <a:avLst/>
          </a:prstGeom>
          <a:noFill/>
        </p:spPr>
        <p:txBody>
          <a:bodyPr wrap="none" anchor="t" lIns="0" rIns="0" tIns="0" bIns="0">
            <a:noAutofit/>
          </a:bodyPr>
          <a:lstStyle/>
          <a:p>
            <a:pPr algn="l">
              <a:lnSpc>
                <a:spcPts val="2688"/>
              </a:lnSpc>
              <a:spcBef>
                <a:spcPts val="0"/>
              </a:spcBef>
              <a:spcAft>
                <a:spcPts val="0"/>
              </a:spcAft>
            </a:pPr>
            <a:r>
              <a:rPr sz="2400" b="1" i="1" lang="fr-FR">
                <a:solidFill>
                  <a:srgbClr val="F9D85C"/>
                </a:solidFill>
                <a:latin typeface="Arial"/>
              </a:rPr>
              <a:t>Le bouton « sauter », c’est toi.</a:t>
            </a:r>
          </a:p>
        </p:txBody>
      </p:sp>
      <p:sp>
        <p:nvSpPr>
          <p:cNvPr id="32" name="Rounded Rectangle 31"/>
          <p:cNvSpPr/>
          <p:nvPr/>
        </p:nvSpPr>
        <p:spPr>
          <a:xfrm>
            <a:off x="8597900" y="5791200"/>
            <a:ext cx="2946400" cy="317500"/>
          </a:xfrm>
          <a:prstGeom prst="roundRect">
            <a:avLst>
              <a:gd name="adj" fmla="val 9000"/>
            </a:avLst>
          </a:prstGeom>
          <a:solidFill>
            <a:srgbClr val="2B4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7900" y="5867400"/>
            <a:ext cx="2946400" cy="203200"/>
          </a:xfrm>
          <a:prstGeom prst="rect">
            <a:avLst/>
          </a:prstGeom>
          <a:noFill/>
        </p:spPr>
        <p:txBody>
          <a:bodyPr wrap="none" anchor="t" lIns="0" rIns="0" tIns="0" bIns="0">
            <a:noAutofit/>
          </a:bodyPr>
          <a:lstStyle/>
          <a:p>
            <a:pPr algn="ctr">
              <a:lnSpc>
                <a:spcPts val="1008"/>
              </a:lnSpc>
              <a:spcBef>
                <a:spcPts val="0"/>
              </a:spcBef>
              <a:spcAft>
                <a:spcPts val="0"/>
              </a:spcAft>
            </a:pPr>
            <a:r>
              <a:rPr sz="900" b="1" i="0" lang="fr-FR" spc="70">
                <a:solidFill>
                  <a:srgbClr val="ACD4E4"/>
                </a:solidFill>
                <a:latin typeface="Arial"/>
              </a:rPr>
              <a:t>VIDÉO TRAITÉE EN LOCAL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B40"/>
        </a:solidFill>
        <a:effectLst/>
      </p:bgPr>
    </p:bg>
    <p:spTree>
      <p:nvGrpSpPr>
        <p:cNvPr id="1" name=""/>
        <p:cNvGrpSpPr/>
        <p:nvPr/>
      </p:nvGrpSpPr>
      <p:grpSpPr/>
      <p:sp>
        <p:nvSpPr>
          <p:cNvPr id="2" name="TextBox 1"/>
          <p:cNvSpPr txBox="1"/>
          <p:nvPr/>
        </p:nvSpPr>
        <p:spPr>
          <a:xfrm>
            <a:off x="660400" y="317500"/>
            <a:ext cx="8382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6F7F8"/>
                </a:solidFill>
                <a:latin typeface="Arial"/>
              </a:rPr>
              <a:t>SUBWAY</a:t>
            </a:r>
          </a:p>
        </p:txBody>
      </p:sp>
      <p:sp>
        <p:nvSpPr>
          <p:cNvPr id="3" name="TextBox 2"/>
          <p:cNvSpPr txBox="1"/>
          <p:nvPr/>
        </p:nvSpPr>
        <p:spPr>
          <a:xfrm>
            <a:off x="1524000" y="317500"/>
            <a:ext cx="10160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9D85C"/>
                </a:solidFill>
                <a:latin typeface="Arial"/>
              </a:rPr>
              <a:t>FRAUDER</a:t>
            </a:r>
          </a:p>
        </p:txBody>
      </p:sp>
      <p:sp>
        <p:nvSpPr>
          <p:cNvPr id="4" name="TextBox 3"/>
          <p:cNvSpPr txBox="1"/>
          <p:nvPr/>
        </p:nvSpPr>
        <p:spPr>
          <a:xfrm>
            <a:off x="6794500" y="342900"/>
            <a:ext cx="4737100" cy="190500"/>
          </a:xfrm>
          <a:prstGeom prst="rect">
            <a:avLst/>
          </a:prstGeom>
          <a:noFill/>
        </p:spPr>
        <p:txBody>
          <a:bodyPr wrap="none" anchor="t" lIns="0" rIns="0" tIns="0" bIns="0">
            <a:noAutofit/>
          </a:bodyPr>
          <a:lstStyle/>
          <a:p>
            <a:pPr algn="r">
              <a:lnSpc>
                <a:spcPts val="1008"/>
              </a:lnSpc>
              <a:spcBef>
                <a:spcPts val="0"/>
              </a:spcBef>
              <a:spcAft>
                <a:spcPts val="0"/>
              </a:spcAft>
            </a:pPr>
            <a:r>
              <a:rPr sz="900" b="1" i="0" lang="fr-FR" spc="110">
                <a:solidFill>
                  <a:srgbClr val="ACD4E4"/>
                </a:solidFill>
                <a:latin typeface="Arial"/>
              </a:rPr>
              <a:t>LE RÉSULTAT DU RUN</a:t>
            </a:r>
          </a:p>
        </p:txBody>
      </p:sp>
      <p:cxnSp>
        <p:nvCxnSpPr>
          <p:cNvPr id="5" name="Connector 4"/>
          <p:cNvCxnSpPr/>
          <p:nvPr/>
        </p:nvCxnSpPr>
        <p:spPr>
          <a:xfrm>
            <a:off x="660400" y="698500"/>
            <a:ext cx="10871200" cy="0"/>
          </a:xfrm>
          <a:prstGeom prst="line">
            <a:avLst/>
          </a:prstGeom>
          <a:ln w="7620">
            <a:solidFill>
              <a:srgbClr val="49617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0400" y="6527800"/>
            <a:ext cx="8890000" cy="177800"/>
          </a:xfrm>
          <a:prstGeom prst="rect">
            <a:avLst/>
          </a:prstGeom>
          <a:noFill/>
        </p:spPr>
        <p:txBody>
          <a:bodyPr wrap="none" anchor="t" lIns="0" rIns="0" tIns="0" bIns="0">
            <a:noAutofit/>
          </a:bodyPr>
          <a:lstStyle/>
          <a:p>
            <a:pPr algn="l">
              <a:lnSpc>
                <a:spcPts val="896"/>
              </a:lnSpc>
              <a:spcBef>
                <a:spcPts val="0"/>
              </a:spcBef>
              <a:spcAft>
                <a:spcPts val="0"/>
              </a:spcAft>
            </a:pPr>
            <a:r>
              <a:rPr sz="800" b="0" i="0" lang="fr-FR" spc="100">
                <a:solidFill>
                  <a:srgbClr val="AEC0CE"/>
                </a:solidFill>
                <a:latin typeface="Arial"/>
              </a:rPr>
              <a:t>SUBWAY FRAUDER  /  MONAD BLITZ PARIS</a:t>
            </a:r>
          </a:p>
        </p:txBody>
      </p:sp>
      <p:sp>
        <p:nvSpPr>
          <p:cNvPr id="7" name="TextBox 6"/>
          <p:cNvSpPr txBox="1"/>
          <p:nvPr/>
        </p:nvSpPr>
        <p:spPr>
          <a:xfrm>
            <a:off x="10591800" y="6527800"/>
            <a:ext cx="939800" cy="177800"/>
          </a:xfrm>
          <a:prstGeom prst="rect">
            <a:avLst/>
          </a:prstGeom>
          <a:noFill/>
        </p:spPr>
        <p:txBody>
          <a:bodyPr wrap="none" anchor="t" lIns="0" rIns="0" tIns="0" bIns="0">
            <a:noAutofit/>
          </a:bodyPr>
          <a:lstStyle/>
          <a:p>
            <a:pPr algn="r">
              <a:lnSpc>
                <a:spcPts val="1008"/>
              </a:lnSpc>
              <a:spcBef>
                <a:spcPts val="0"/>
              </a:spcBef>
              <a:spcAft>
                <a:spcPts val="0"/>
              </a:spcAft>
            </a:pPr>
            <a:r>
              <a:rPr sz="900" b="0" i="0" lang="fr-FR">
                <a:solidFill>
                  <a:srgbClr val="AEC0CE"/>
                </a:solidFill>
                <a:latin typeface="Arial"/>
              </a:rPr>
              <a:t>04 / 05</a:t>
            </a:r>
          </a:p>
        </p:txBody>
      </p:sp>
      <p:sp>
        <p:nvSpPr>
          <p:cNvPr id="8" name="TextBox 7"/>
          <p:cNvSpPr txBox="1"/>
          <p:nvPr/>
        </p:nvSpPr>
        <p:spPr>
          <a:xfrm>
            <a:off x="647700" y="1003300"/>
            <a:ext cx="10922000" cy="609600"/>
          </a:xfrm>
          <a:prstGeom prst="rect">
            <a:avLst/>
          </a:prstGeom>
          <a:noFill/>
        </p:spPr>
        <p:txBody>
          <a:bodyPr wrap="none" anchor="t" lIns="0" rIns="0" tIns="0" bIns="0">
            <a:noAutofit/>
          </a:bodyPr>
          <a:lstStyle/>
          <a:p>
            <a:pPr algn="l">
              <a:lnSpc>
                <a:spcPts val="3920"/>
              </a:lnSpc>
              <a:spcBef>
                <a:spcPts val="0"/>
              </a:spcBef>
              <a:spcAft>
                <a:spcPts val="0"/>
              </a:spcAft>
            </a:pPr>
            <a:r>
              <a:rPr sz="3500" b="1" i="1" lang="fr-FR">
                <a:solidFill>
                  <a:srgbClr val="F6F7F8"/>
                </a:solidFill>
                <a:latin typeface="Arial"/>
              </a:rPr>
              <a:t>LE RUN FINIT. LA RIVALITÉ RESTE.</a:t>
            </a:r>
          </a:p>
        </p:txBody>
      </p:sp>
      <p:sp>
        <p:nvSpPr>
          <p:cNvPr id="9" name="TextBox 8"/>
          <p:cNvSpPr txBox="1"/>
          <p:nvPr/>
        </p:nvSpPr>
        <p:spPr>
          <a:xfrm>
            <a:off x="685800" y="1651000"/>
            <a:ext cx="10795000" cy="304800"/>
          </a:xfrm>
          <a:prstGeom prst="rect">
            <a:avLst/>
          </a:prstGeom>
          <a:noFill/>
        </p:spPr>
        <p:txBody>
          <a:bodyPr wrap="none" anchor="t" lIns="0" rIns="0" tIns="0" bIns="0">
            <a:noAutofit/>
          </a:bodyPr>
          <a:lstStyle/>
          <a:p>
            <a:pPr algn="l">
              <a:lnSpc>
                <a:spcPts val="1904"/>
              </a:lnSpc>
              <a:spcBef>
                <a:spcPts val="0"/>
              </a:spcBef>
              <a:spcAft>
                <a:spcPts val="0"/>
              </a:spcAft>
            </a:pPr>
            <a:r>
              <a:rPr sz="1700" b="0" i="0" lang="fr-FR">
                <a:solidFill>
                  <a:srgbClr val="AEC0CE"/>
                </a:solidFill>
                <a:latin typeface="Arial"/>
              </a:rPr>
              <a:t>Score, pièces, highlights locaux et classement.</a:t>
            </a:r>
          </a:p>
        </p:txBody>
      </p:sp>
      <p:sp>
        <p:nvSpPr>
          <p:cNvPr id="10" name="Rounded Rectangle 9"/>
          <p:cNvSpPr/>
          <p:nvPr/>
        </p:nvSpPr>
        <p:spPr>
          <a:xfrm>
            <a:off x="609600" y="2032000"/>
            <a:ext cx="10972800" cy="4292600"/>
          </a:xfrm>
          <a:prstGeom prst="roundRect">
            <a:avLst>
              <a:gd name="adj" fmla="val 9000"/>
            </a:avLst>
          </a:prstGeom>
          <a:solidFill>
            <a:srgbClr val="0C192A"/>
          </a:solidFill>
          <a:ln w="1524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sultats-reference.jpg"/>
          <p:cNvPicPr>
            <a:picLocks noChangeAspect="1"/>
          </p:cNvPicPr>
          <p:nvPr/>
        </p:nvPicPr>
        <p:blipFill>
          <a:blip r:embed="rId2"/>
          <a:srcRect l="1953" t="22467" r="3984" b="9251"/>
          <a:stretch>
            <a:fillRect/>
          </a:stretch>
        </p:blipFill>
        <p:spPr>
          <a:xfrm>
            <a:off x="685800" y="2095500"/>
            <a:ext cx="10820400" cy="4178300"/>
          </a:xfrm>
          <a:prstGeom prst="rect">
            <a:avLst/>
          </a:prstGeom>
        </p:spPr>
      </p:pic>
      <p:sp>
        <p:nvSpPr>
          <p:cNvPr id="12" name="TextBox 11"/>
          <p:cNvSpPr txBox="1"/>
          <p:nvPr/>
        </p:nvSpPr>
        <p:spPr>
          <a:xfrm>
            <a:off x="698500" y="6337300"/>
            <a:ext cx="8763000" cy="177800"/>
          </a:xfrm>
          <a:prstGeom prst="rect">
            <a:avLst/>
          </a:prstGeom>
          <a:noFill/>
        </p:spPr>
        <p:txBody>
          <a:bodyPr wrap="none" anchor="t" lIns="0" rIns="0" tIns="0" bIns="0">
            <a:noAutofit/>
          </a:bodyPr>
          <a:lstStyle/>
          <a:p>
            <a:pPr algn="l">
              <a:lnSpc>
                <a:spcPts val="896"/>
              </a:lnSpc>
              <a:spcBef>
                <a:spcPts val="0"/>
              </a:spcBef>
              <a:spcAft>
                <a:spcPts val="0"/>
              </a:spcAft>
            </a:pPr>
            <a:r>
              <a:rPr sz="800" b="0" i="0" lang="fr-FR">
                <a:solidFill>
                  <a:srgbClr val="AEC0CE"/>
                </a:solidFill>
                <a:latin typeface="Arial"/>
              </a:rPr>
              <a:t>Capture de démo : la partie affichée est en mode local.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2B40"/>
        </a:solidFill>
        <a:effectLst/>
      </p:bgPr>
    </p:bg>
    <p:spTree>
      <p:nvGrpSpPr>
        <p:cNvPr id="1" name=""/>
        <p:cNvGrpSpPr/>
        <p:nvPr/>
      </p:nvGrpSpPr>
      <p:grpSpPr/>
      <p:sp>
        <p:nvSpPr>
          <p:cNvPr id="2" name="TextBox 1"/>
          <p:cNvSpPr txBox="1"/>
          <p:nvPr/>
        </p:nvSpPr>
        <p:spPr>
          <a:xfrm>
            <a:off x="660400" y="317500"/>
            <a:ext cx="8382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6F7F8"/>
                </a:solidFill>
                <a:latin typeface="Arial"/>
              </a:rPr>
              <a:t>SUBWAY</a:t>
            </a:r>
          </a:p>
        </p:txBody>
      </p:sp>
      <p:sp>
        <p:nvSpPr>
          <p:cNvPr id="3" name="TextBox 2"/>
          <p:cNvSpPr txBox="1"/>
          <p:nvPr/>
        </p:nvSpPr>
        <p:spPr>
          <a:xfrm>
            <a:off x="1524000" y="317500"/>
            <a:ext cx="1016000" cy="190500"/>
          </a:xfrm>
          <a:prstGeom prst="rect">
            <a:avLst/>
          </a:prstGeom>
          <a:noFill/>
        </p:spPr>
        <p:txBody>
          <a:bodyPr wrap="none" anchor="t" lIns="0" rIns="0" tIns="0" bIns="0">
            <a:noAutofit/>
          </a:bodyPr>
          <a:lstStyle/>
          <a:p>
            <a:pPr algn="l">
              <a:lnSpc>
                <a:spcPts val="1232"/>
              </a:lnSpc>
              <a:spcBef>
                <a:spcPts val="0"/>
              </a:spcBef>
              <a:spcAft>
                <a:spcPts val="0"/>
              </a:spcAft>
            </a:pPr>
            <a:r>
              <a:rPr sz="1100" b="1" i="0" lang="fr-FR">
                <a:solidFill>
                  <a:srgbClr val="F9D85C"/>
                </a:solidFill>
                <a:latin typeface="Arial"/>
              </a:rPr>
              <a:t>FRAUDER</a:t>
            </a:r>
          </a:p>
        </p:txBody>
      </p:sp>
      <p:sp>
        <p:nvSpPr>
          <p:cNvPr id="4" name="TextBox 3"/>
          <p:cNvSpPr txBox="1"/>
          <p:nvPr/>
        </p:nvSpPr>
        <p:spPr>
          <a:xfrm>
            <a:off x="6794500" y="342900"/>
            <a:ext cx="4737100" cy="190500"/>
          </a:xfrm>
          <a:prstGeom prst="rect">
            <a:avLst/>
          </a:prstGeom>
          <a:noFill/>
        </p:spPr>
        <p:txBody>
          <a:bodyPr wrap="none" anchor="t" lIns="0" rIns="0" tIns="0" bIns="0">
            <a:noAutofit/>
          </a:bodyPr>
          <a:lstStyle/>
          <a:p>
            <a:pPr algn="r">
              <a:lnSpc>
                <a:spcPts val="1008"/>
              </a:lnSpc>
              <a:spcBef>
                <a:spcPts val="0"/>
              </a:spcBef>
              <a:spcAft>
                <a:spcPts val="0"/>
              </a:spcAft>
            </a:pPr>
            <a:r>
              <a:rPr sz="900" b="1" i="0" lang="fr-FR" spc="110">
                <a:solidFill>
                  <a:srgbClr val="ACD4E4"/>
                </a:solidFill>
                <a:latin typeface="Arial"/>
              </a:rPr>
              <a:t>MONAD TESTNET  /  PLACE À LA DÉMO</a:t>
            </a:r>
          </a:p>
        </p:txBody>
      </p:sp>
      <p:cxnSp>
        <p:nvCxnSpPr>
          <p:cNvPr id="5" name="Connector 4"/>
          <p:cNvCxnSpPr/>
          <p:nvPr/>
        </p:nvCxnSpPr>
        <p:spPr>
          <a:xfrm>
            <a:off x="660400" y="698500"/>
            <a:ext cx="10871200" cy="0"/>
          </a:xfrm>
          <a:prstGeom prst="line">
            <a:avLst/>
          </a:prstGeom>
          <a:ln w="7620">
            <a:solidFill>
              <a:srgbClr val="49617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0400" y="6527800"/>
            <a:ext cx="8890000" cy="177800"/>
          </a:xfrm>
          <a:prstGeom prst="rect">
            <a:avLst/>
          </a:prstGeom>
          <a:noFill/>
        </p:spPr>
        <p:txBody>
          <a:bodyPr wrap="none" anchor="t" lIns="0" rIns="0" tIns="0" bIns="0">
            <a:noAutofit/>
          </a:bodyPr>
          <a:lstStyle/>
          <a:p>
            <a:pPr algn="l">
              <a:lnSpc>
                <a:spcPts val="896"/>
              </a:lnSpc>
              <a:spcBef>
                <a:spcPts val="0"/>
              </a:spcBef>
              <a:spcAft>
                <a:spcPts val="0"/>
              </a:spcAft>
            </a:pPr>
            <a:r>
              <a:rPr sz="800" b="0" i="0" lang="fr-FR" spc="100">
                <a:solidFill>
                  <a:srgbClr val="AEC0CE"/>
                </a:solidFill>
                <a:latin typeface="Arial"/>
              </a:rPr>
              <a:t>SUBWAY FRAUDER  /  MONAD BLITZ PARIS</a:t>
            </a:r>
          </a:p>
        </p:txBody>
      </p:sp>
      <p:sp>
        <p:nvSpPr>
          <p:cNvPr id="7" name="TextBox 6"/>
          <p:cNvSpPr txBox="1"/>
          <p:nvPr/>
        </p:nvSpPr>
        <p:spPr>
          <a:xfrm>
            <a:off x="10591800" y="6527800"/>
            <a:ext cx="939800" cy="177800"/>
          </a:xfrm>
          <a:prstGeom prst="rect">
            <a:avLst/>
          </a:prstGeom>
          <a:noFill/>
        </p:spPr>
        <p:txBody>
          <a:bodyPr wrap="none" anchor="t" lIns="0" rIns="0" tIns="0" bIns="0">
            <a:noAutofit/>
          </a:bodyPr>
          <a:lstStyle/>
          <a:p>
            <a:pPr algn="r">
              <a:lnSpc>
                <a:spcPts val="1008"/>
              </a:lnSpc>
              <a:spcBef>
                <a:spcPts val="0"/>
              </a:spcBef>
              <a:spcAft>
                <a:spcPts val="0"/>
              </a:spcAft>
            </a:pPr>
            <a:r>
              <a:rPr sz="900" b="0" i="0" lang="fr-FR">
                <a:solidFill>
                  <a:srgbClr val="AEC0CE"/>
                </a:solidFill>
                <a:latin typeface="Arial"/>
              </a:rPr>
              <a:t>05 / 05</a:t>
            </a:r>
          </a:p>
        </p:txBody>
      </p:sp>
      <p:sp>
        <p:nvSpPr>
          <p:cNvPr id="8" name="TextBox 7"/>
          <p:cNvSpPr txBox="1"/>
          <p:nvPr/>
        </p:nvSpPr>
        <p:spPr>
          <a:xfrm>
            <a:off x="660400" y="1054100"/>
            <a:ext cx="7899400" cy="800100"/>
          </a:xfrm>
          <a:prstGeom prst="rect">
            <a:avLst/>
          </a:prstGeom>
          <a:noFill/>
        </p:spPr>
        <p:txBody>
          <a:bodyPr wrap="none" anchor="t" lIns="0" rIns="0" tIns="0" bIns="0">
            <a:noAutofit/>
          </a:bodyPr>
          <a:lstStyle/>
          <a:p>
            <a:pPr algn="l">
              <a:lnSpc>
                <a:spcPts val="5264"/>
              </a:lnSpc>
              <a:spcBef>
                <a:spcPts val="0"/>
              </a:spcBef>
              <a:spcAft>
                <a:spcPts val="0"/>
              </a:spcAft>
            </a:pPr>
            <a:r>
              <a:rPr sz="4700" b="1" i="1" lang="fr-FR">
                <a:solidFill>
                  <a:srgbClr val="F6F7F8"/>
                </a:solidFill>
                <a:latin typeface="Arial"/>
              </a:rPr>
              <a:t>DU CARDIO.</a:t>
            </a:r>
          </a:p>
        </p:txBody>
      </p:sp>
      <p:sp>
        <p:nvSpPr>
          <p:cNvPr id="9" name="TextBox 8"/>
          <p:cNvSpPr txBox="1"/>
          <p:nvPr/>
        </p:nvSpPr>
        <p:spPr>
          <a:xfrm>
            <a:off x="635000" y="1752600"/>
            <a:ext cx="9652000" cy="800100"/>
          </a:xfrm>
          <a:prstGeom prst="rect">
            <a:avLst/>
          </a:prstGeom>
          <a:noFill/>
        </p:spPr>
        <p:txBody>
          <a:bodyPr wrap="none" anchor="t" lIns="0" rIns="0" tIns="0" bIns="0">
            <a:noAutofit/>
          </a:bodyPr>
          <a:lstStyle/>
          <a:p>
            <a:pPr algn="l">
              <a:lnSpc>
                <a:spcPts val="5264"/>
              </a:lnSpc>
              <a:spcBef>
                <a:spcPts val="0"/>
              </a:spcBef>
              <a:spcAft>
                <a:spcPts val="0"/>
              </a:spcAft>
            </a:pPr>
            <a:r>
              <a:rPr sz="4700" b="1" i="1" lang="fr-FR">
                <a:solidFill>
                  <a:srgbClr val="F9D85C"/>
                </a:solidFill>
                <a:latin typeface="Arial"/>
              </a:rPr>
              <a:t>ET DU ONCHAIN.</a:t>
            </a:r>
          </a:p>
        </p:txBody>
      </p:sp>
      <p:sp>
        <p:nvSpPr>
          <p:cNvPr id="10" name="Rounded Rectangle 9"/>
          <p:cNvSpPr/>
          <p:nvPr/>
        </p:nvSpPr>
        <p:spPr>
          <a:xfrm>
            <a:off x="660400" y="3060700"/>
            <a:ext cx="3124200" cy="1714500"/>
          </a:xfrm>
          <a:prstGeom prst="roundRect">
            <a:avLst>
              <a:gd name="adj" fmla="val 9000"/>
            </a:avLst>
          </a:prstGeom>
          <a:solidFill>
            <a:srgbClr val="20364C"/>
          </a:solidFill>
          <a:ln w="1270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3276600"/>
            <a:ext cx="406400" cy="304800"/>
          </a:xfrm>
          <a:prstGeom prst="roundRect">
            <a:avLst>
              <a:gd name="adj" fmla="val 9000"/>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3340100"/>
            <a:ext cx="406400" cy="203200"/>
          </a:xfrm>
          <a:prstGeom prst="rect">
            <a:avLst/>
          </a:prstGeom>
          <a:noFill/>
        </p:spPr>
        <p:txBody>
          <a:bodyPr wrap="none" anchor="t" lIns="0" rIns="0" tIns="0" bIns="0">
            <a:noAutofit/>
          </a:bodyPr>
          <a:lstStyle/>
          <a:p>
            <a:pPr algn="ctr">
              <a:lnSpc>
                <a:spcPts val="1120"/>
              </a:lnSpc>
              <a:spcBef>
                <a:spcPts val="0"/>
              </a:spcBef>
              <a:spcAft>
                <a:spcPts val="0"/>
              </a:spcAft>
            </a:pPr>
            <a:r>
              <a:rPr sz="1000" b="1" i="0" lang="fr-FR">
                <a:solidFill>
                  <a:srgbClr val="0C192A"/>
                </a:solidFill>
                <a:latin typeface="Arial"/>
              </a:rPr>
              <a:t>01</a:t>
            </a:r>
          </a:p>
        </p:txBody>
      </p:sp>
      <p:sp>
        <p:nvSpPr>
          <p:cNvPr id="13" name="TextBox 12"/>
          <p:cNvSpPr txBox="1"/>
          <p:nvPr/>
        </p:nvSpPr>
        <p:spPr>
          <a:xfrm>
            <a:off x="889000" y="3721100"/>
            <a:ext cx="2705100" cy="342900"/>
          </a:xfrm>
          <a:prstGeom prst="rect">
            <a:avLst/>
          </a:prstGeom>
          <a:noFill/>
        </p:spPr>
        <p:txBody>
          <a:bodyPr wrap="none" anchor="t" lIns="0" rIns="0" tIns="0" bIns="0">
            <a:noAutofit/>
          </a:bodyPr>
          <a:lstStyle/>
          <a:p>
            <a:pPr algn="l">
              <a:lnSpc>
                <a:spcPts val="2016"/>
              </a:lnSpc>
              <a:spcBef>
                <a:spcPts val="0"/>
              </a:spcBef>
              <a:spcAft>
                <a:spcPts val="0"/>
              </a:spcAft>
            </a:pPr>
            <a:r>
              <a:rPr sz="1800" b="1" i="0" lang="fr-FR">
                <a:solidFill>
                  <a:srgbClr val="F6F7F8"/>
                </a:solidFill>
                <a:latin typeface="Arial"/>
              </a:rPr>
              <a:t>TU JOUES</a:t>
            </a:r>
          </a:p>
        </p:txBody>
      </p:sp>
      <p:sp>
        <p:nvSpPr>
          <p:cNvPr id="14" name="TextBox 13"/>
          <p:cNvSpPr txBox="1"/>
          <p:nvPr/>
        </p:nvSpPr>
        <p:spPr>
          <a:xfrm>
            <a:off x="889000" y="4152900"/>
            <a:ext cx="2781300" cy="520700"/>
          </a:xfrm>
          <a:prstGeom prst="rect">
            <a:avLst/>
          </a:prstGeom>
          <a:noFill/>
        </p:spPr>
        <p:txBody>
          <a:bodyPr wrap="none" anchor="t" lIns="0" rIns="0" tIns="0" bIns="0">
            <a:noAutofit/>
          </a:bodyPr>
          <a:lstStyle/>
          <a:p>
            <a:pPr algn="l">
              <a:lnSpc>
                <a:spcPts val="1889"/>
              </a:lnSpc>
              <a:spcBef>
                <a:spcPts val="0"/>
              </a:spcBef>
              <a:spcAft>
                <a:spcPts val="0"/>
              </a:spcAft>
            </a:pPr>
            <a:r>
              <a:rPr sz="1350" b="0" i="0" lang="fr-FR">
                <a:solidFill>
                  <a:srgbClr val="AEC0CE"/>
                </a:solidFill>
                <a:latin typeface="Arial"/>
              </a:rPr>
              <a:t>Webcam + simulation</a:t>
            </a:r>
          </a:p>
          <a:p>
            <a:pPr algn="l">
              <a:lnSpc>
                <a:spcPts val="1889"/>
              </a:lnSpc>
              <a:spcBef>
                <a:spcPts val="0"/>
              </a:spcBef>
              <a:spcAft>
                <a:spcPts val="0"/>
              </a:spcAft>
            </a:pPr>
            <a:r>
              <a:rPr sz="1350" b="0" i="0" lang="fr-FR">
                <a:solidFill>
                  <a:srgbClr val="AEC0CE"/>
                </a:solidFill>
                <a:latin typeface="Arial"/>
              </a:rPr>
              <a:t>Dans le navigateur</a:t>
            </a:r>
          </a:p>
        </p:txBody>
      </p:sp>
      <p:sp>
        <p:nvSpPr>
          <p:cNvPr id="15" name="Rounded Rectangle 14"/>
          <p:cNvSpPr/>
          <p:nvPr/>
        </p:nvSpPr>
        <p:spPr>
          <a:xfrm>
            <a:off x="4533900" y="3060700"/>
            <a:ext cx="3124200" cy="1714500"/>
          </a:xfrm>
          <a:prstGeom prst="roundRect">
            <a:avLst>
              <a:gd name="adj" fmla="val 9000"/>
            </a:avLst>
          </a:prstGeom>
          <a:solidFill>
            <a:srgbClr val="20364C"/>
          </a:solidFill>
          <a:ln w="1270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62500" y="3276600"/>
            <a:ext cx="406400" cy="304800"/>
          </a:xfrm>
          <a:prstGeom prst="roundRect">
            <a:avLst>
              <a:gd name="adj" fmla="val 9000"/>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2500" y="3340100"/>
            <a:ext cx="406400" cy="203200"/>
          </a:xfrm>
          <a:prstGeom prst="rect">
            <a:avLst/>
          </a:prstGeom>
          <a:noFill/>
        </p:spPr>
        <p:txBody>
          <a:bodyPr wrap="none" anchor="t" lIns="0" rIns="0" tIns="0" bIns="0">
            <a:noAutofit/>
          </a:bodyPr>
          <a:lstStyle/>
          <a:p>
            <a:pPr algn="ctr">
              <a:lnSpc>
                <a:spcPts val="1120"/>
              </a:lnSpc>
              <a:spcBef>
                <a:spcPts val="0"/>
              </a:spcBef>
              <a:spcAft>
                <a:spcPts val="0"/>
              </a:spcAft>
            </a:pPr>
            <a:r>
              <a:rPr sz="1000" b="1" i="0" lang="fr-FR">
                <a:solidFill>
                  <a:srgbClr val="0C192A"/>
                </a:solidFill>
                <a:latin typeface="Arial"/>
              </a:rPr>
              <a:t>02</a:t>
            </a:r>
          </a:p>
        </p:txBody>
      </p:sp>
      <p:sp>
        <p:nvSpPr>
          <p:cNvPr id="18" name="TextBox 17"/>
          <p:cNvSpPr txBox="1"/>
          <p:nvPr/>
        </p:nvSpPr>
        <p:spPr>
          <a:xfrm>
            <a:off x="4762500" y="3721100"/>
            <a:ext cx="2705100" cy="342900"/>
          </a:xfrm>
          <a:prstGeom prst="rect">
            <a:avLst/>
          </a:prstGeom>
          <a:noFill/>
        </p:spPr>
        <p:txBody>
          <a:bodyPr wrap="none" anchor="t" lIns="0" rIns="0" tIns="0" bIns="0">
            <a:noAutofit/>
          </a:bodyPr>
          <a:lstStyle/>
          <a:p>
            <a:pPr algn="l">
              <a:lnSpc>
                <a:spcPts val="2016"/>
              </a:lnSpc>
              <a:spcBef>
                <a:spcPts val="0"/>
              </a:spcBef>
              <a:spcAft>
                <a:spcPts val="0"/>
              </a:spcAft>
            </a:pPr>
            <a:r>
              <a:rPr sz="1800" b="1" i="0" lang="fr-FR">
                <a:solidFill>
                  <a:srgbClr val="F6F7F8"/>
                </a:solidFill>
                <a:latin typeface="Arial"/>
              </a:rPr>
              <a:t>ON VÉRIFIE</a:t>
            </a:r>
          </a:p>
        </p:txBody>
      </p:sp>
      <p:sp>
        <p:nvSpPr>
          <p:cNvPr id="19" name="TextBox 18"/>
          <p:cNvSpPr txBox="1"/>
          <p:nvPr/>
        </p:nvSpPr>
        <p:spPr>
          <a:xfrm>
            <a:off x="4762500" y="4152900"/>
            <a:ext cx="2781300" cy="520700"/>
          </a:xfrm>
          <a:prstGeom prst="rect">
            <a:avLst/>
          </a:prstGeom>
          <a:noFill/>
        </p:spPr>
        <p:txBody>
          <a:bodyPr wrap="none" anchor="t" lIns="0" rIns="0" tIns="0" bIns="0">
            <a:noAutofit/>
          </a:bodyPr>
          <a:lstStyle/>
          <a:p>
            <a:pPr algn="l">
              <a:lnSpc>
                <a:spcPts val="1889"/>
              </a:lnSpc>
              <a:spcBef>
                <a:spcPts val="0"/>
              </a:spcBef>
              <a:spcAft>
                <a:spcPts val="0"/>
              </a:spcAft>
            </a:pPr>
            <a:r>
              <a:rPr sz="1350" b="0" i="0" lang="fr-FR">
                <a:solidFill>
                  <a:srgbClr val="AEC0CE"/>
                </a:solidFill>
                <a:latin typeface="Arial"/>
              </a:rPr>
              <a:t>Rejeu côté serveur</a:t>
            </a:r>
          </a:p>
          <a:p>
            <a:pPr algn="l">
              <a:lnSpc>
                <a:spcPts val="1889"/>
              </a:lnSpc>
              <a:spcBef>
                <a:spcPts val="0"/>
              </a:spcBef>
              <a:spcAft>
                <a:spcPts val="0"/>
              </a:spcAft>
            </a:pPr>
            <a:r>
              <a:rPr sz="1350" b="0" i="0" lang="fr-FR">
                <a:solidFill>
                  <a:srgbClr val="AEC0CE"/>
                </a:solidFill>
                <a:latin typeface="Arial"/>
              </a:rPr>
              <a:t>Score + pièces recalculés</a:t>
            </a:r>
          </a:p>
        </p:txBody>
      </p:sp>
      <p:sp>
        <p:nvSpPr>
          <p:cNvPr id="20" name="Rounded Rectangle 19"/>
          <p:cNvSpPr/>
          <p:nvPr/>
        </p:nvSpPr>
        <p:spPr>
          <a:xfrm>
            <a:off x="8407400" y="3060700"/>
            <a:ext cx="3124200" cy="1714500"/>
          </a:xfrm>
          <a:prstGeom prst="roundRect">
            <a:avLst>
              <a:gd name="adj" fmla="val 9000"/>
            </a:avLst>
          </a:prstGeom>
          <a:solidFill>
            <a:srgbClr val="20364C"/>
          </a:solidFill>
          <a:ln w="12700">
            <a:solidFill>
              <a:srgbClr val="4961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36000" y="3276600"/>
            <a:ext cx="406400" cy="304800"/>
          </a:xfrm>
          <a:prstGeom prst="roundRect">
            <a:avLst>
              <a:gd name="adj" fmla="val 9000"/>
            </a:avLst>
          </a:prstGeom>
          <a:solidFill>
            <a:srgbClr val="916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36000" y="3340100"/>
            <a:ext cx="406400" cy="203200"/>
          </a:xfrm>
          <a:prstGeom prst="rect">
            <a:avLst/>
          </a:prstGeom>
          <a:noFill/>
        </p:spPr>
        <p:txBody>
          <a:bodyPr wrap="none" anchor="t" lIns="0" rIns="0" tIns="0" bIns="0">
            <a:noAutofit/>
          </a:bodyPr>
          <a:lstStyle/>
          <a:p>
            <a:pPr algn="ctr">
              <a:lnSpc>
                <a:spcPts val="1120"/>
              </a:lnSpc>
              <a:spcBef>
                <a:spcPts val="0"/>
              </a:spcBef>
              <a:spcAft>
                <a:spcPts val="0"/>
              </a:spcAft>
            </a:pPr>
            <a:r>
              <a:rPr sz="1000" b="1" i="0" lang="fr-FR">
                <a:solidFill>
                  <a:srgbClr val="F6F7F8"/>
                </a:solidFill>
                <a:latin typeface="Arial"/>
              </a:rPr>
              <a:t>03</a:t>
            </a:r>
          </a:p>
        </p:txBody>
      </p:sp>
      <p:sp>
        <p:nvSpPr>
          <p:cNvPr id="23" name="TextBox 22"/>
          <p:cNvSpPr txBox="1"/>
          <p:nvPr/>
        </p:nvSpPr>
        <p:spPr>
          <a:xfrm>
            <a:off x="8636000" y="3721100"/>
            <a:ext cx="2705100" cy="342900"/>
          </a:xfrm>
          <a:prstGeom prst="rect">
            <a:avLst/>
          </a:prstGeom>
          <a:noFill/>
        </p:spPr>
        <p:txBody>
          <a:bodyPr wrap="none" anchor="t" lIns="0" rIns="0" tIns="0" bIns="0">
            <a:noAutofit/>
          </a:bodyPr>
          <a:lstStyle/>
          <a:p>
            <a:pPr algn="l">
              <a:lnSpc>
                <a:spcPts val="2016"/>
              </a:lnSpc>
              <a:spcBef>
                <a:spcPts val="0"/>
              </a:spcBef>
              <a:spcAft>
                <a:spcPts val="0"/>
              </a:spcAft>
            </a:pPr>
            <a:r>
              <a:rPr sz="1800" b="1" i="0" lang="fr-FR">
                <a:solidFill>
                  <a:srgbClr val="F6F7F8"/>
                </a:solidFill>
                <a:latin typeface="Arial"/>
              </a:rPr>
              <a:t>MONAD GARDE</a:t>
            </a:r>
          </a:p>
        </p:txBody>
      </p:sp>
      <p:sp>
        <p:nvSpPr>
          <p:cNvPr id="24" name="TextBox 23"/>
          <p:cNvSpPr txBox="1"/>
          <p:nvPr/>
        </p:nvSpPr>
        <p:spPr>
          <a:xfrm>
            <a:off x="8636000" y="4152900"/>
            <a:ext cx="2781300" cy="520700"/>
          </a:xfrm>
          <a:prstGeom prst="rect">
            <a:avLst/>
          </a:prstGeom>
          <a:noFill/>
        </p:spPr>
        <p:txBody>
          <a:bodyPr wrap="none" anchor="t" lIns="0" rIns="0" tIns="0" bIns="0">
            <a:noAutofit/>
          </a:bodyPr>
          <a:lstStyle/>
          <a:p>
            <a:pPr algn="l">
              <a:lnSpc>
                <a:spcPts val="1889"/>
              </a:lnSpc>
              <a:spcBef>
                <a:spcPts val="0"/>
              </a:spcBef>
              <a:spcAft>
                <a:spcPts val="0"/>
              </a:spcAft>
            </a:pPr>
            <a:r>
              <a:rPr sz="1350" b="0" i="0" lang="fr-FR">
                <a:solidFill>
                  <a:srgbClr val="AEC0CE"/>
                </a:solidFill>
                <a:latin typeface="Arial"/>
              </a:rPr>
              <a:t>Pseudo, scores, pièces</a:t>
            </a:r>
          </a:p>
          <a:p>
            <a:pPr algn="l">
              <a:lnSpc>
                <a:spcPts val="1889"/>
              </a:lnSpc>
              <a:spcBef>
                <a:spcPts val="0"/>
              </a:spcBef>
              <a:spcAft>
                <a:spcPts val="0"/>
              </a:spcAft>
            </a:pPr>
            <a:r>
              <a:rPr sz="1350" b="0" i="0" lang="fr-FR">
                <a:solidFill>
                  <a:srgbClr val="AEC0CE"/>
                </a:solidFill>
                <a:latin typeface="Arial"/>
              </a:rPr>
              <a:t>Replays + top 25</a:t>
            </a:r>
          </a:p>
        </p:txBody>
      </p:sp>
      <p:sp>
        <p:nvSpPr>
          <p:cNvPr id="25" name="Right Arrow 24"/>
          <p:cNvSpPr/>
          <p:nvPr/>
        </p:nvSpPr>
        <p:spPr>
          <a:xfrm>
            <a:off x="3937000" y="3683000"/>
            <a:ext cx="431800" cy="304800"/>
          </a:xfrm>
          <a:prstGeom prst="rightArrow">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7810500" y="3683000"/>
            <a:ext cx="431800" cy="304800"/>
          </a:xfrm>
          <a:prstGeom prst="rightArrow">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003800"/>
            <a:ext cx="10845800" cy="342900"/>
          </a:xfrm>
          <a:prstGeom prst="rect">
            <a:avLst/>
          </a:prstGeom>
          <a:noFill/>
        </p:spPr>
        <p:txBody>
          <a:bodyPr wrap="none" anchor="t" lIns="0" rIns="0" tIns="0" bIns="0">
            <a:noAutofit/>
          </a:bodyPr>
          <a:lstStyle/>
          <a:p>
            <a:pPr algn="l">
              <a:lnSpc>
                <a:spcPts val="1904"/>
              </a:lnSpc>
              <a:spcBef>
                <a:spcPts val="0"/>
              </a:spcBef>
              <a:spcAft>
                <a:spcPts val="0"/>
              </a:spcAft>
            </a:pPr>
            <a:r>
              <a:rPr sz="1700" b="0" i="0" lang="fr-FR">
                <a:solidFill>
                  <a:srgbClr val="F6F7F8"/>
                </a:solidFill>
                <a:latin typeface="Arial"/>
              </a:rPr>
              <a:t>Pas de wallet à connecter : le relayer paie les transactions.</a:t>
            </a:r>
          </a:p>
        </p:txBody>
      </p:sp>
      <p:sp>
        <p:nvSpPr>
          <p:cNvPr id="28" name="Rounded Rectangle 27"/>
          <p:cNvSpPr/>
          <p:nvPr/>
        </p:nvSpPr>
        <p:spPr>
          <a:xfrm>
            <a:off x="673100" y="5562600"/>
            <a:ext cx="1371600" cy="317500"/>
          </a:xfrm>
          <a:prstGeom prst="roundRect">
            <a:avLst>
              <a:gd name="adj" fmla="val 9000"/>
            </a:avLst>
          </a:prstGeom>
          <a:solidFill>
            <a:srgbClr val="916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3100" y="5638800"/>
            <a:ext cx="1371600" cy="203200"/>
          </a:xfrm>
          <a:prstGeom prst="rect">
            <a:avLst/>
          </a:prstGeom>
          <a:noFill/>
        </p:spPr>
        <p:txBody>
          <a:bodyPr wrap="none" anchor="t" lIns="0" rIns="0" tIns="0" bIns="0">
            <a:noAutofit/>
          </a:bodyPr>
          <a:lstStyle/>
          <a:p>
            <a:pPr algn="ctr">
              <a:lnSpc>
                <a:spcPts val="1008"/>
              </a:lnSpc>
              <a:spcBef>
                <a:spcPts val="0"/>
              </a:spcBef>
              <a:spcAft>
                <a:spcPts val="0"/>
              </a:spcAft>
            </a:pPr>
            <a:r>
              <a:rPr sz="900" b="1" i="0" lang="fr-FR" spc="70">
                <a:solidFill>
                  <a:srgbClr val="F6F7F8"/>
                </a:solidFill>
                <a:latin typeface="Arial"/>
              </a:rPr>
              <a:t>NEXT LEVEL</a:t>
            </a:r>
          </a:p>
        </p:txBody>
      </p:sp>
      <p:sp>
        <p:nvSpPr>
          <p:cNvPr id="30" name="TextBox 29"/>
          <p:cNvSpPr txBox="1"/>
          <p:nvPr/>
        </p:nvSpPr>
        <p:spPr>
          <a:xfrm>
            <a:off x="2184400" y="5638800"/>
            <a:ext cx="6540500" cy="317500"/>
          </a:xfrm>
          <a:prstGeom prst="rect">
            <a:avLst/>
          </a:prstGeom>
          <a:noFill/>
        </p:spPr>
        <p:txBody>
          <a:bodyPr wrap="none" anchor="t" lIns="0" rIns="0" tIns="0" bIns="0">
            <a:noAutofit/>
          </a:bodyPr>
          <a:lstStyle/>
          <a:p>
            <a:pPr algn="l">
              <a:lnSpc>
                <a:spcPts val="1568"/>
              </a:lnSpc>
              <a:spcBef>
                <a:spcPts val="0"/>
              </a:spcBef>
              <a:spcAft>
                <a:spcPts val="0"/>
              </a:spcAft>
            </a:pPr>
            <a:r>
              <a:rPr sz="1400" b="0" i="0" lang="fr-FR">
                <a:solidFill>
                  <a:srgbClr val="AEC0CE"/>
                </a:solidFill>
                <a:latin typeface="Arial"/>
              </a:rPr>
              <a:t>Une tx par mouvement : API prête à raccorder.</a:t>
            </a:r>
          </a:p>
        </p:txBody>
      </p:sp>
      <p:sp>
        <p:nvSpPr>
          <p:cNvPr id="31" name="Rounded Rectangle 30"/>
          <p:cNvSpPr/>
          <p:nvPr/>
        </p:nvSpPr>
        <p:spPr>
          <a:xfrm>
            <a:off x="8940800" y="5511800"/>
            <a:ext cx="2590800" cy="546100"/>
          </a:xfrm>
          <a:prstGeom prst="roundRect">
            <a:avLst>
              <a:gd name="adj" fmla="val 9000"/>
            </a:avLst>
          </a:prstGeom>
          <a:solidFill>
            <a:srgbClr val="F9D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29700" y="5676900"/>
            <a:ext cx="2413000" cy="355600"/>
          </a:xfrm>
          <a:prstGeom prst="rect">
            <a:avLst/>
          </a:prstGeom>
          <a:noFill/>
        </p:spPr>
        <p:txBody>
          <a:bodyPr wrap="none" anchor="t" lIns="0" rIns="0" tIns="0" bIns="0">
            <a:noAutofit/>
          </a:bodyPr>
          <a:lstStyle/>
          <a:p>
            <a:pPr algn="ctr">
              <a:lnSpc>
                <a:spcPts val="1792"/>
              </a:lnSpc>
              <a:spcBef>
                <a:spcPts val="0"/>
              </a:spcBef>
              <a:spcAft>
                <a:spcPts val="0"/>
              </a:spcAft>
            </a:pPr>
            <a:r>
              <a:rPr sz="1600" b="1" i="1" lang="fr-FR">
                <a:solidFill>
                  <a:srgbClr val="0C192A"/>
                </a:solidFill>
                <a:latin typeface="Arial"/>
                <a:hlinkClick r:id="rId2"/>
              </a:rPr>
              <a:t>À TOI DE COURIR.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Subway Frauder — Bouge pour jouer</dc:title>
  <dc:subject>Monad Blitz Paris 2026</dc:subject>
  <dc:creator>Ali BEN YEZZA · Noé WALES</dc:creator>
  <cp:keywords>Subway Frauder, Monad, DeVinci Blockchain, webcam</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